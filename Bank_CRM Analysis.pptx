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7" r:id="rId10"/>
    <p:sldId id="278" r:id="rId11"/>
    <p:sldId id="279" r:id="rId12"/>
    <p:sldId id="280" r:id="rId13"/>
    <p:sldId id="281" r:id="rId14"/>
    <p:sldId id="283" r:id="rId15"/>
    <p:sldId id="284" r:id="rId16"/>
    <p:sldId id="286" r:id="rId17"/>
    <p:sldId id="293" r:id="rId18"/>
    <p:sldId id="294" r:id="rId19"/>
    <p:sldId id="295" r:id="rId20"/>
    <p:sldId id="290" r:id="rId21"/>
    <p:sldId id="289" r:id="rId22"/>
    <p:sldId id="291" r:id="rId23"/>
    <p:sldId id="29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F536CD-4B87-4106-A521-E35AFDD60002}"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en-US"/>
        </a:p>
      </dgm:t>
    </dgm:pt>
    <dgm:pt modelId="{9B892394-9993-4E9D-84FF-A9082059611B}">
      <dgm:prSet custT="1"/>
      <dgm:spPr>
        <a:solidFill>
          <a:schemeClr val="accent1">
            <a:lumMod val="60000"/>
            <a:lumOff val="40000"/>
          </a:schemeClr>
        </a:solidFill>
      </dgm:spPr>
      <dgm:t>
        <a:bodyPr/>
        <a:lstStyle/>
        <a:p>
          <a:pPr algn="ctr">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Understanding The Data</a:t>
          </a:r>
        </a:p>
      </dgm:t>
    </dgm:pt>
    <dgm:pt modelId="{3F37AA7F-F068-4D09-97D0-EAF0A72A1014}" type="parTrans" cxnId="{1B454CD8-EF4F-407B-AAB7-11A88E9938D4}">
      <dgm:prSet/>
      <dgm:spPr/>
      <dgm:t>
        <a:bodyPr/>
        <a:lstStyle/>
        <a:p>
          <a:endParaRPr lang="en-US"/>
        </a:p>
      </dgm:t>
    </dgm:pt>
    <dgm:pt modelId="{698FE7C2-7219-4F40-958A-4B50CF8B71AF}" type="sibTrans" cxnId="{1B454CD8-EF4F-407B-AAB7-11A88E9938D4}">
      <dgm:prSet/>
      <dgm:spPr>
        <a:solidFill>
          <a:srgbClr val="FFFF00">
            <a:alpha val="90000"/>
          </a:srgbClr>
        </a:solidFill>
      </dgm:spPr>
      <dgm:t>
        <a:bodyPr/>
        <a:lstStyle/>
        <a:p>
          <a:endParaRPr lang="en-US"/>
        </a:p>
      </dgm:t>
    </dgm:pt>
    <dgm:pt modelId="{01406B56-5DD2-423F-947C-0686ABB46084}">
      <dgm:prSet custT="1"/>
      <dgm:spPr>
        <a:solidFill>
          <a:srgbClr val="156082">
            <a:lumMod val="60000"/>
            <a:lumOff val="40000"/>
          </a:srgbClr>
        </a:solidFill>
        <a:ln w="19050" cap="flat" cmpd="sng" algn="ctr">
          <a:solidFill>
            <a:srgbClr val="E8E8E8">
              <a:hueOff val="0"/>
              <a:satOff val="0"/>
              <a:lumOff val="0"/>
              <a:alphaOff val="0"/>
            </a:srgbClr>
          </a:solidFill>
          <a:prstDash val="solid"/>
          <a:miter lim="800000"/>
        </a:ln>
        <a:effectLst/>
      </dgm:spPr>
      <dgm:t>
        <a:bodyPr spcFirstLastPara="0" vert="horz" wrap="square" lIns="76200" tIns="76200" rIns="76200" bIns="76200" numCol="1" spcCol="1270" anchor="ctr" anchorCtr="0"/>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Cleaning The Data</a:t>
          </a:r>
        </a:p>
      </dgm:t>
    </dgm:pt>
    <dgm:pt modelId="{B58A4AF3-28EE-4C40-A7FB-941ABE5E7E52}" type="parTrans" cxnId="{C5FDD6C4-2E49-49D8-90C0-6B9E1463D182}">
      <dgm:prSet/>
      <dgm:spPr/>
      <dgm:t>
        <a:bodyPr/>
        <a:lstStyle/>
        <a:p>
          <a:endParaRPr lang="en-US"/>
        </a:p>
      </dgm:t>
    </dgm:pt>
    <dgm:pt modelId="{502AC567-28E4-4EE3-B194-5CE8972DBCE9}" type="sibTrans" cxnId="{C5FDD6C4-2E49-49D8-90C0-6B9E1463D182}">
      <dgm:prSet custT="1"/>
      <dgm:spPr>
        <a:solidFill>
          <a:srgbClr val="FFFF00">
            <a:alpha val="90000"/>
          </a:srgbClr>
        </a:solidFill>
        <a:ln w="19050" cap="flat" cmpd="sng" algn="ctr">
          <a:solidFill>
            <a:srgbClr val="0E2841">
              <a:alpha val="90000"/>
              <a:tint val="40000"/>
              <a:hueOff val="0"/>
              <a:satOff val="0"/>
              <a:lumOff val="0"/>
              <a:alphaOff val="0"/>
            </a:srgbClr>
          </a:solidFill>
          <a:prstDash val="solid"/>
          <a:miter lim="800000"/>
        </a:ln>
        <a:effectLst/>
      </dgm:spPr>
      <dgm:t>
        <a:bodyPr spcFirstLastPara="0" vert="horz" wrap="square" lIns="36830" tIns="36830" rIns="36830" bIns="36830" numCol="1" spcCol="1270" anchor="ctr" anchorCtr="0"/>
        <a:lstStyle/>
        <a:p>
          <a:pPr marL="0" lvl="0" indent="0" algn="ctr" defTabSz="1289050">
            <a:lnSpc>
              <a:spcPct val="90000"/>
            </a:lnSpc>
            <a:spcBef>
              <a:spcPct val="0"/>
            </a:spcBef>
            <a:spcAft>
              <a:spcPct val="35000"/>
            </a:spcAft>
            <a:buNone/>
          </a:pPr>
          <a:endParaRPr lang="en-US" sz="2900" kern="1200">
            <a:solidFill>
              <a:prstClr val="black">
                <a:hueOff val="0"/>
                <a:satOff val="0"/>
                <a:lumOff val="0"/>
                <a:alphaOff val="0"/>
              </a:prstClr>
            </a:solidFill>
            <a:latin typeface="Aptos" panose="02110004020202020204"/>
            <a:ea typeface="+mn-ea"/>
            <a:cs typeface="+mn-cs"/>
          </a:endParaRPr>
        </a:p>
      </dgm:t>
    </dgm:pt>
    <dgm:pt modelId="{3CE72CE8-9091-4FF8-B631-13702AF9ED99}">
      <dgm:prSet custT="1"/>
      <dgm:spPr>
        <a:solidFill>
          <a:srgbClr val="156082">
            <a:lumMod val="60000"/>
            <a:lumOff val="40000"/>
          </a:srgbClr>
        </a:solidFill>
        <a:ln w="19050" cap="flat" cmpd="sng" algn="ctr">
          <a:solidFill>
            <a:srgbClr val="E8E8E8">
              <a:hueOff val="0"/>
              <a:satOff val="0"/>
              <a:lumOff val="0"/>
              <a:alphaOff val="0"/>
            </a:srgbClr>
          </a:solidFill>
          <a:prstDash val="solid"/>
          <a:miter lim="800000"/>
        </a:ln>
        <a:effectLst/>
      </dgm:spPr>
      <dgm:t>
        <a:bodyPr spcFirstLastPara="0" vert="horz" wrap="square" lIns="76200" tIns="76200" rIns="76200" bIns="76200" numCol="1" spcCol="1270" anchor="ctr" anchorCtr="0"/>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Exploring The Data</a:t>
          </a:r>
        </a:p>
      </dgm:t>
    </dgm:pt>
    <dgm:pt modelId="{8865B597-B403-4E45-9E31-630556AD1A0D}" type="parTrans" cxnId="{71C73DFD-DA38-4230-8EA1-D37CE1522E39}">
      <dgm:prSet/>
      <dgm:spPr/>
      <dgm:t>
        <a:bodyPr/>
        <a:lstStyle/>
        <a:p>
          <a:endParaRPr lang="en-US"/>
        </a:p>
      </dgm:t>
    </dgm:pt>
    <dgm:pt modelId="{4060877A-53DA-4AFC-899B-78FCB9685D5A}" type="sibTrans" cxnId="{71C73DFD-DA38-4230-8EA1-D37CE1522E39}">
      <dgm:prSet custT="1"/>
      <dgm:spPr>
        <a:solidFill>
          <a:srgbClr val="FFFF00">
            <a:alpha val="90000"/>
          </a:srgbClr>
        </a:solidFill>
        <a:ln w="19050" cap="flat" cmpd="sng" algn="ctr">
          <a:solidFill>
            <a:srgbClr val="0E2841">
              <a:alpha val="90000"/>
              <a:tint val="40000"/>
              <a:hueOff val="0"/>
              <a:satOff val="0"/>
              <a:lumOff val="0"/>
              <a:alphaOff val="0"/>
            </a:srgbClr>
          </a:solidFill>
          <a:prstDash val="solid"/>
          <a:miter lim="800000"/>
        </a:ln>
        <a:effectLst/>
      </dgm:spPr>
      <dgm:t>
        <a:bodyPr spcFirstLastPara="0" vert="horz" wrap="square" lIns="36830" tIns="36830" rIns="36830" bIns="36830" numCol="1" spcCol="1270" anchor="ctr" anchorCtr="0"/>
        <a:lstStyle/>
        <a:p>
          <a:pPr marL="0" lvl="0" indent="0" algn="ctr" defTabSz="1289050">
            <a:lnSpc>
              <a:spcPct val="90000"/>
            </a:lnSpc>
            <a:spcBef>
              <a:spcPct val="0"/>
            </a:spcBef>
            <a:spcAft>
              <a:spcPct val="35000"/>
            </a:spcAft>
            <a:buNone/>
          </a:pPr>
          <a:endParaRPr lang="en-US" sz="2900" kern="1200">
            <a:solidFill>
              <a:prstClr val="black">
                <a:hueOff val="0"/>
                <a:satOff val="0"/>
                <a:lumOff val="0"/>
                <a:alphaOff val="0"/>
              </a:prstClr>
            </a:solidFill>
            <a:latin typeface="Aptos" panose="02110004020202020204"/>
            <a:ea typeface="+mn-ea"/>
            <a:cs typeface="+mn-cs"/>
          </a:endParaRPr>
        </a:p>
      </dgm:t>
    </dgm:pt>
    <dgm:pt modelId="{4129890E-0AB0-428A-9DE4-F2CC34E9EE52}">
      <dgm:prSet custT="1"/>
      <dgm:spPr>
        <a:solidFill>
          <a:srgbClr val="156082">
            <a:lumMod val="60000"/>
            <a:lumOff val="40000"/>
          </a:srgbClr>
        </a:solidFill>
        <a:ln w="19050" cap="flat" cmpd="sng" algn="ctr">
          <a:solidFill>
            <a:srgbClr val="E8E8E8">
              <a:hueOff val="0"/>
              <a:satOff val="0"/>
              <a:lumOff val="0"/>
              <a:alphaOff val="0"/>
            </a:srgbClr>
          </a:solidFill>
          <a:prstDash val="solid"/>
          <a:miter lim="800000"/>
        </a:ln>
        <a:effectLst/>
      </dgm:spPr>
      <dgm:t>
        <a:bodyPr spcFirstLastPara="0" vert="horz" wrap="square" lIns="76200" tIns="76200" rIns="76200" bIns="76200" numCol="1" spcCol="1270" anchor="ctr" anchorCtr="0"/>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Deriving Key Insights</a:t>
          </a:r>
        </a:p>
      </dgm:t>
    </dgm:pt>
    <dgm:pt modelId="{33E9A91F-B648-48C5-A7F4-9B7D9EFBE794}" type="parTrans" cxnId="{B5EF6EBD-3D8D-436B-AC19-1C2A0481BE8E}">
      <dgm:prSet/>
      <dgm:spPr/>
      <dgm:t>
        <a:bodyPr/>
        <a:lstStyle/>
        <a:p>
          <a:endParaRPr lang="en-US"/>
        </a:p>
      </dgm:t>
    </dgm:pt>
    <dgm:pt modelId="{A6B06EA2-75AC-4709-B577-7E4852362527}" type="sibTrans" cxnId="{B5EF6EBD-3D8D-436B-AC19-1C2A0481BE8E}">
      <dgm:prSet/>
      <dgm:spPr/>
      <dgm:t>
        <a:bodyPr/>
        <a:lstStyle/>
        <a:p>
          <a:endParaRPr lang="en-US"/>
        </a:p>
      </dgm:t>
    </dgm:pt>
    <dgm:pt modelId="{A877BAE5-0288-4444-A24A-3C423260FB52}" type="pres">
      <dgm:prSet presAssocID="{A5F536CD-4B87-4106-A521-E35AFDD60002}" presName="outerComposite" presStyleCnt="0">
        <dgm:presLayoutVars>
          <dgm:chMax val="5"/>
          <dgm:dir/>
          <dgm:resizeHandles val="exact"/>
        </dgm:presLayoutVars>
      </dgm:prSet>
      <dgm:spPr/>
    </dgm:pt>
    <dgm:pt modelId="{AC3E4DD6-6D87-4590-8908-DE9222DAEB31}" type="pres">
      <dgm:prSet presAssocID="{A5F536CD-4B87-4106-A521-E35AFDD60002}" presName="dummyMaxCanvas" presStyleCnt="0">
        <dgm:presLayoutVars/>
      </dgm:prSet>
      <dgm:spPr/>
    </dgm:pt>
    <dgm:pt modelId="{0934C3E9-8B67-4A11-810B-B8A92E9DED93}" type="pres">
      <dgm:prSet presAssocID="{A5F536CD-4B87-4106-A521-E35AFDD60002}" presName="FourNodes_1" presStyleLbl="node1" presStyleIdx="0" presStyleCnt="4" custScaleX="113331" custLinFactNeighborX="5830" custLinFactNeighborY="4888">
        <dgm:presLayoutVars>
          <dgm:bulletEnabled val="1"/>
        </dgm:presLayoutVars>
      </dgm:prSet>
      <dgm:spPr/>
    </dgm:pt>
    <dgm:pt modelId="{F7F37D7B-65C2-41EE-9F6C-C1439967F8D3}" type="pres">
      <dgm:prSet presAssocID="{A5F536CD-4B87-4106-A521-E35AFDD60002}" presName="FourNodes_2" presStyleLbl="node1" presStyleIdx="1" presStyleCnt="4">
        <dgm:presLayoutVars>
          <dgm:bulletEnabled val="1"/>
        </dgm:presLayoutVars>
      </dgm:prSet>
      <dgm:spPr>
        <a:xfrm>
          <a:off x="371178" y="1176073"/>
          <a:ext cx="3170361" cy="995139"/>
        </a:xfrm>
        <a:prstGeom prst="roundRect">
          <a:avLst>
            <a:gd name="adj" fmla="val 10000"/>
          </a:avLst>
        </a:prstGeom>
      </dgm:spPr>
    </dgm:pt>
    <dgm:pt modelId="{B7EB6F81-87B4-48C1-AB3C-B046509B4F9F}" type="pres">
      <dgm:prSet presAssocID="{A5F536CD-4B87-4106-A521-E35AFDD60002}" presName="FourNodes_3" presStyleLbl="node1" presStyleIdx="2" presStyleCnt="4">
        <dgm:presLayoutVars>
          <dgm:bulletEnabled val="1"/>
        </dgm:presLayoutVars>
      </dgm:prSet>
      <dgm:spPr>
        <a:xfrm>
          <a:off x="632732" y="2352147"/>
          <a:ext cx="3170361" cy="995139"/>
        </a:xfrm>
        <a:prstGeom prst="roundRect">
          <a:avLst>
            <a:gd name="adj" fmla="val 10000"/>
          </a:avLst>
        </a:prstGeom>
      </dgm:spPr>
    </dgm:pt>
    <dgm:pt modelId="{A91DF9ED-CEB3-4B45-A635-39751ECFFDB1}" type="pres">
      <dgm:prSet presAssocID="{A5F536CD-4B87-4106-A521-E35AFDD60002}" presName="FourNodes_4" presStyleLbl="node1" presStyleIdx="3" presStyleCnt="4">
        <dgm:presLayoutVars>
          <dgm:bulletEnabled val="1"/>
        </dgm:presLayoutVars>
      </dgm:prSet>
      <dgm:spPr>
        <a:xfrm>
          <a:off x="898250" y="3528221"/>
          <a:ext cx="3170361" cy="995139"/>
        </a:xfrm>
        <a:prstGeom prst="roundRect">
          <a:avLst>
            <a:gd name="adj" fmla="val 10000"/>
          </a:avLst>
        </a:prstGeom>
      </dgm:spPr>
    </dgm:pt>
    <dgm:pt modelId="{324610B9-89F1-4671-A84E-0F20238BD823}" type="pres">
      <dgm:prSet presAssocID="{A5F536CD-4B87-4106-A521-E35AFDD60002}" presName="FourConn_1-2" presStyleLbl="fgAccFollowNode1" presStyleIdx="0" presStyleCnt="3">
        <dgm:presLayoutVars>
          <dgm:bulletEnabled val="1"/>
        </dgm:presLayoutVars>
      </dgm:prSet>
      <dgm:spPr/>
    </dgm:pt>
    <dgm:pt modelId="{BEE82D81-B913-4E7F-A8A4-27776237929E}" type="pres">
      <dgm:prSet presAssocID="{A5F536CD-4B87-4106-A521-E35AFDD60002}" presName="FourConn_2-3" presStyleLbl="fgAccFollowNode1" presStyleIdx="1" presStyleCnt="3">
        <dgm:presLayoutVars>
          <dgm:bulletEnabled val="1"/>
        </dgm:presLayoutVars>
      </dgm:prSet>
      <dgm:spPr>
        <a:xfrm>
          <a:off x="2894698" y="1938260"/>
          <a:ext cx="646840" cy="646840"/>
        </a:xfrm>
        <a:prstGeom prst="downArrow">
          <a:avLst>
            <a:gd name="adj1" fmla="val 55000"/>
            <a:gd name="adj2" fmla="val 45000"/>
          </a:avLst>
        </a:prstGeom>
      </dgm:spPr>
    </dgm:pt>
    <dgm:pt modelId="{0D2C1569-A380-452F-BCC5-1EA067D6E91A}" type="pres">
      <dgm:prSet presAssocID="{A5F536CD-4B87-4106-A521-E35AFDD60002}" presName="FourConn_3-4" presStyleLbl="fgAccFollowNode1" presStyleIdx="2" presStyleCnt="3">
        <dgm:presLayoutVars>
          <dgm:bulletEnabled val="1"/>
        </dgm:presLayoutVars>
      </dgm:prSet>
      <dgm:spPr>
        <a:xfrm>
          <a:off x="3156253" y="3114334"/>
          <a:ext cx="646840" cy="646840"/>
        </a:xfrm>
        <a:prstGeom prst="downArrow">
          <a:avLst>
            <a:gd name="adj1" fmla="val 55000"/>
            <a:gd name="adj2" fmla="val 45000"/>
          </a:avLst>
        </a:prstGeom>
      </dgm:spPr>
    </dgm:pt>
    <dgm:pt modelId="{6B7B82D8-5D10-4AD2-B3C8-525618DA173E}" type="pres">
      <dgm:prSet presAssocID="{A5F536CD-4B87-4106-A521-E35AFDD60002}" presName="FourNodes_1_text" presStyleLbl="node1" presStyleIdx="3" presStyleCnt="4">
        <dgm:presLayoutVars>
          <dgm:bulletEnabled val="1"/>
        </dgm:presLayoutVars>
      </dgm:prSet>
      <dgm:spPr/>
    </dgm:pt>
    <dgm:pt modelId="{6BE6993A-B223-4480-8C98-8F9516802BCF}" type="pres">
      <dgm:prSet presAssocID="{A5F536CD-4B87-4106-A521-E35AFDD60002}" presName="FourNodes_2_text" presStyleLbl="node1" presStyleIdx="3" presStyleCnt="4">
        <dgm:presLayoutVars>
          <dgm:bulletEnabled val="1"/>
        </dgm:presLayoutVars>
      </dgm:prSet>
      <dgm:spPr/>
    </dgm:pt>
    <dgm:pt modelId="{367CD6E4-B80C-462E-B8BB-AECAD806F528}" type="pres">
      <dgm:prSet presAssocID="{A5F536CD-4B87-4106-A521-E35AFDD60002}" presName="FourNodes_3_text" presStyleLbl="node1" presStyleIdx="3" presStyleCnt="4">
        <dgm:presLayoutVars>
          <dgm:bulletEnabled val="1"/>
        </dgm:presLayoutVars>
      </dgm:prSet>
      <dgm:spPr/>
    </dgm:pt>
    <dgm:pt modelId="{2A254FEE-20BD-4A3B-881F-3B2E1BCE5A88}" type="pres">
      <dgm:prSet presAssocID="{A5F536CD-4B87-4106-A521-E35AFDD60002}" presName="FourNodes_4_text" presStyleLbl="node1" presStyleIdx="3" presStyleCnt="4">
        <dgm:presLayoutVars>
          <dgm:bulletEnabled val="1"/>
        </dgm:presLayoutVars>
      </dgm:prSet>
      <dgm:spPr/>
    </dgm:pt>
  </dgm:ptLst>
  <dgm:cxnLst>
    <dgm:cxn modelId="{D7D33905-3669-475F-96D8-D9FDF8338F94}" type="presOf" srcId="{9B892394-9993-4E9D-84FF-A9082059611B}" destId="{6B7B82D8-5D10-4AD2-B3C8-525618DA173E}" srcOrd="1" destOrd="0" presId="urn:microsoft.com/office/officeart/2005/8/layout/vProcess5"/>
    <dgm:cxn modelId="{A4D24A06-49B1-401C-BBF1-B70514F40BDE}" type="presOf" srcId="{4060877A-53DA-4AFC-899B-78FCB9685D5A}" destId="{0D2C1569-A380-452F-BCC5-1EA067D6E91A}" srcOrd="0" destOrd="0" presId="urn:microsoft.com/office/officeart/2005/8/layout/vProcess5"/>
    <dgm:cxn modelId="{FA814A20-E808-4124-814F-8DF6EE561ABC}" type="presOf" srcId="{01406B56-5DD2-423F-947C-0686ABB46084}" destId="{6BE6993A-B223-4480-8C98-8F9516802BCF}" srcOrd="1" destOrd="0" presId="urn:microsoft.com/office/officeart/2005/8/layout/vProcess5"/>
    <dgm:cxn modelId="{13C0E42C-472E-4166-885A-A74FEFBDE21B}" type="presOf" srcId="{4129890E-0AB0-428A-9DE4-F2CC34E9EE52}" destId="{A91DF9ED-CEB3-4B45-A635-39751ECFFDB1}" srcOrd="0" destOrd="0" presId="urn:microsoft.com/office/officeart/2005/8/layout/vProcess5"/>
    <dgm:cxn modelId="{31C17764-0846-4647-97BB-F786E15C8B36}" type="presOf" srcId="{3CE72CE8-9091-4FF8-B631-13702AF9ED99}" destId="{367CD6E4-B80C-462E-B8BB-AECAD806F528}" srcOrd="1" destOrd="0" presId="urn:microsoft.com/office/officeart/2005/8/layout/vProcess5"/>
    <dgm:cxn modelId="{DB9B0674-2DFA-419D-A43E-CFF0CF737BFB}" type="presOf" srcId="{502AC567-28E4-4EE3-B194-5CE8972DBCE9}" destId="{BEE82D81-B913-4E7F-A8A4-27776237929E}" srcOrd="0" destOrd="0" presId="urn:microsoft.com/office/officeart/2005/8/layout/vProcess5"/>
    <dgm:cxn modelId="{2149F29A-4F39-4253-BA5A-A6449AAC5EE8}" type="presOf" srcId="{698FE7C2-7219-4F40-958A-4B50CF8B71AF}" destId="{324610B9-89F1-4671-A84E-0F20238BD823}" srcOrd="0" destOrd="0" presId="urn:microsoft.com/office/officeart/2005/8/layout/vProcess5"/>
    <dgm:cxn modelId="{679A699C-68E3-40C2-8FA3-C15A8CB55572}" type="presOf" srcId="{A5F536CD-4B87-4106-A521-E35AFDD60002}" destId="{A877BAE5-0288-4444-A24A-3C423260FB52}" srcOrd="0" destOrd="0" presId="urn:microsoft.com/office/officeart/2005/8/layout/vProcess5"/>
    <dgm:cxn modelId="{A8103EB9-9CD6-4DC3-BC28-AE924031989D}" type="presOf" srcId="{3CE72CE8-9091-4FF8-B631-13702AF9ED99}" destId="{B7EB6F81-87B4-48C1-AB3C-B046509B4F9F}" srcOrd="0" destOrd="0" presId="urn:microsoft.com/office/officeart/2005/8/layout/vProcess5"/>
    <dgm:cxn modelId="{B5EF6EBD-3D8D-436B-AC19-1C2A0481BE8E}" srcId="{A5F536CD-4B87-4106-A521-E35AFDD60002}" destId="{4129890E-0AB0-428A-9DE4-F2CC34E9EE52}" srcOrd="3" destOrd="0" parTransId="{33E9A91F-B648-48C5-A7F4-9B7D9EFBE794}" sibTransId="{A6B06EA2-75AC-4709-B577-7E4852362527}"/>
    <dgm:cxn modelId="{C5FDD6C4-2E49-49D8-90C0-6B9E1463D182}" srcId="{A5F536CD-4B87-4106-A521-E35AFDD60002}" destId="{01406B56-5DD2-423F-947C-0686ABB46084}" srcOrd="1" destOrd="0" parTransId="{B58A4AF3-28EE-4C40-A7FB-941ABE5E7E52}" sibTransId="{502AC567-28E4-4EE3-B194-5CE8972DBCE9}"/>
    <dgm:cxn modelId="{7903C8C8-CDBD-40D1-8B68-E10A1E3683E3}" type="presOf" srcId="{9B892394-9993-4E9D-84FF-A9082059611B}" destId="{0934C3E9-8B67-4A11-810B-B8A92E9DED93}" srcOrd="0" destOrd="0" presId="urn:microsoft.com/office/officeart/2005/8/layout/vProcess5"/>
    <dgm:cxn modelId="{291C7BD2-E9A3-4FEF-AC4B-974EA4D301BA}" type="presOf" srcId="{4129890E-0AB0-428A-9DE4-F2CC34E9EE52}" destId="{2A254FEE-20BD-4A3B-881F-3B2E1BCE5A88}" srcOrd="1" destOrd="0" presId="urn:microsoft.com/office/officeart/2005/8/layout/vProcess5"/>
    <dgm:cxn modelId="{1B454CD8-EF4F-407B-AAB7-11A88E9938D4}" srcId="{A5F536CD-4B87-4106-A521-E35AFDD60002}" destId="{9B892394-9993-4E9D-84FF-A9082059611B}" srcOrd="0" destOrd="0" parTransId="{3F37AA7F-F068-4D09-97D0-EAF0A72A1014}" sibTransId="{698FE7C2-7219-4F40-958A-4B50CF8B71AF}"/>
    <dgm:cxn modelId="{67A343EA-611C-4759-9FDE-570B6F5353D3}" type="presOf" srcId="{01406B56-5DD2-423F-947C-0686ABB46084}" destId="{F7F37D7B-65C2-41EE-9F6C-C1439967F8D3}" srcOrd="0" destOrd="0" presId="urn:microsoft.com/office/officeart/2005/8/layout/vProcess5"/>
    <dgm:cxn modelId="{71C73DFD-DA38-4230-8EA1-D37CE1522E39}" srcId="{A5F536CD-4B87-4106-A521-E35AFDD60002}" destId="{3CE72CE8-9091-4FF8-B631-13702AF9ED99}" srcOrd="2" destOrd="0" parTransId="{8865B597-B403-4E45-9E31-630556AD1A0D}" sibTransId="{4060877A-53DA-4AFC-899B-78FCB9685D5A}"/>
    <dgm:cxn modelId="{97FA674E-6594-4347-BD39-D06EFF9E30AA}" type="presParOf" srcId="{A877BAE5-0288-4444-A24A-3C423260FB52}" destId="{AC3E4DD6-6D87-4590-8908-DE9222DAEB31}" srcOrd="0" destOrd="0" presId="urn:microsoft.com/office/officeart/2005/8/layout/vProcess5"/>
    <dgm:cxn modelId="{21B18FC7-FE7B-419F-A4FD-B5A15F94C22D}" type="presParOf" srcId="{A877BAE5-0288-4444-A24A-3C423260FB52}" destId="{0934C3E9-8B67-4A11-810B-B8A92E9DED93}" srcOrd="1" destOrd="0" presId="urn:microsoft.com/office/officeart/2005/8/layout/vProcess5"/>
    <dgm:cxn modelId="{D39185BB-A30E-4E7F-AF0D-6420FC4DE7F4}" type="presParOf" srcId="{A877BAE5-0288-4444-A24A-3C423260FB52}" destId="{F7F37D7B-65C2-41EE-9F6C-C1439967F8D3}" srcOrd="2" destOrd="0" presId="urn:microsoft.com/office/officeart/2005/8/layout/vProcess5"/>
    <dgm:cxn modelId="{D3A58554-1F54-4299-BB85-60A48F9846FD}" type="presParOf" srcId="{A877BAE5-0288-4444-A24A-3C423260FB52}" destId="{B7EB6F81-87B4-48C1-AB3C-B046509B4F9F}" srcOrd="3" destOrd="0" presId="urn:microsoft.com/office/officeart/2005/8/layout/vProcess5"/>
    <dgm:cxn modelId="{AA535AC4-EE32-421C-AB4B-AB0A3DF67EE2}" type="presParOf" srcId="{A877BAE5-0288-4444-A24A-3C423260FB52}" destId="{A91DF9ED-CEB3-4B45-A635-39751ECFFDB1}" srcOrd="4" destOrd="0" presId="urn:microsoft.com/office/officeart/2005/8/layout/vProcess5"/>
    <dgm:cxn modelId="{C4E027E0-1EBD-45F8-A2AF-4A66912FBC4E}" type="presParOf" srcId="{A877BAE5-0288-4444-A24A-3C423260FB52}" destId="{324610B9-89F1-4671-A84E-0F20238BD823}" srcOrd="5" destOrd="0" presId="urn:microsoft.com/office/officeart/2005/8/layout/vProcess5"/>
    <dgm:cxn modelId="{4751D636-4C34-4491-955E-F5F95F030854}" type="presParOf" srcId="{A877BAE5-0288-4444-A24A-3C423260FB52}" destId="{BEE82D81-B913-4E7F-A8A4-27776237929E}" srcOrd="6" destOrd="0" presId="urn:microsoft.com/office/officeart/2005/8/layout/vProcess5"/>
    <dgm:cxn modelId="{E9179658-1BAE-4AD7-894E-9E9D9EEBF58C}" type="presParOf" srcId="{A877BAE5-0288-4444-A24A-3C423260FB52}" destId="{0D2C1569-A380-452F-BCC5-1EA067D6E91A}" srcOrd="7" destOrd="0" presId="urn:microsoft.com/office/officeart/2005/8/layout/vProcess5"/>
    <dgm:cxn modelId="{2E85462E-E218-456C-9A6E-F56B812B6DF6}" type="presParOf" srcId="{A877BAE5-0288-4444-A24A-3C423260FB52}" destId="{6B7B82D8-5D10-4AD2-B3C8-525618DA173E}" srcOrd="8" destOrd="0" presId="urn:microsoft.com/office/officeart/2005/8/layout/vProcess5"/>
    <dgm:cxn modelId="{28C90C38-A184-4B15-B6E9-D1EF23F5BA18}" type="presParOf" srcId="{A877BAE5-0288-4444-A24A-3C423260FB52}" destId="{6BE6993A-B223-4480-8C98-8F9516802BCF}" srcOrd="9" destOrd="0" presId="urn:microsoft.com/office/officeart/2005/8/layout/vProcess5"/>
    <dgm:cxn modelId="{A94FAEE8-0D5C-454C-8DA2-E4A2D18BF524}" type="presParOf" srcId="{A877BAE5-0288-4444-A24A-3C423260FB52}" destId="{367CD6E4-B80C-462E-B8BB-AECAD806F528}" srcOrd="10" destOrd="0" presId="urn:microsoft.com/office/officeart/2005/8/layout/vProcess5"/>
    <dgm:cxn modelId="{A682BBE8-72BE-481A-AD00-DF19F085FD08}" type="presParOf" srcId="{A877BAE5-0288-4444-A24A-3C423260FB52}" destId="{2A254FEE-20BD-4A3B-881F-3B2E1BCE5A88}"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34C3E9-8B67-4A11-810B-B8A92E9DED93}">
      <dsp:nvSpPr>
        <dsp:cNvPr id="0" name=""/>
        <dsp:cNvSpPr/>
      </dsp:nvSpPr>
      <dsp:spPr>
        <a:xfrm>
          <a:off x="79171" y="48642"/>
          <a:ext cx="3593002" cy="995139"/>
        </a:xfrm>
        <a:prstGeom prst="roundRect">
          <a:avLst>
            <a:gd name="adj" fmla="val 10000"/>
          </a:avLst>
        </a:prstGeom>
        <a:solidFill>
          <a:schemeClr val="accent1">
            <a:lumMod val="60000"/>
            <a:lumOff val="4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latin typeface="Lato" panose="020F0502020204030203" pitchFamily="34" charset="0"/>
              <a:ea typeface="Lato" panose="020F0502020204030203" pitchFamily="34" charset="0"/>
              <a:cs typeface="Lato" panose="020F0502020204030203" pitchFamily="34" charset="0"/>
            </a:rPr>
            <a:t>Understanding The Data</a:t>
          </a:r>
        </a:p>
      </dsp:txBody>
      <dsp:txXfrm>
        <a:off x="108318" y="77789"/>
        <a:ext cx="2288487" cy="936845"/>
      </dsp:txXfrm>
    </dsp:sp>
    <dsp:sp modelId="{F7F37D7B-65C2-41EE-9F6C-C1439967F8D3}">
      <dsp:nvSpPr>
        <dsp:cNvPr id="0" name=""/>
        <dsp:cNvSpPr/>
      </dsp:nvSpPr>
      <dsp:spPr>
        <a:xfrm>
          <a:off x="371178" y="1176073"/>
          <a:ext cx="3170361" cy="995139"/>
        </a:xfrm>
        <a:prstGeom prst="roundRect">
          <a:avLst>
            <a:gd name="adj" fmla="val 10000"/>
          </a:avLst>
        </a:prstGeom>
        <a:solidFill>
          <a:srgbClr val="156082">
            <a:lumMod val="60000"/>
            <a:lumOff val="40000"/>
          </a:srgbClr>
        </a:solidFill>
        <a:ln w="19050" cap="flat" cmpd="sng" algn="ctr">
          <a:solidFill>
            <a:srgbClr val="E8E8E8">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Cleaning The Data</a:t>
          </a:r>
        </a:p>
      </dsp:txBody>
      <dsp:txXfrm>
        <a:off x="400325" y="1205220"/>
        <a:ext cx="2199709" cy="936845"/>
      </dsp:txXfrm>
    </dsp:sp>
    <dsp:sp modelId="{B7EB6F81-87B4-48C1-AB3C-B046509B4F9F}">
      <dsp:nvSpPr>
        <dsp:cNvPr id="0" name=""/>
        <dsp:cNvSpPr/>
      </dsp:nvSpPr>
      <dsp:spPr>
        <a:xfrm>
          <a:off x="632732" y="2352147"/>
          <a:ext cx="3170361" cy="995139"/>
        </a:xfrm>
        <a:prstGeom prst="roundRect">
          <a:avLst>
            <a:gd name="adj" fmla="val 10000"/>
          </a:avLst>
        </a:prstGeom>
        <a:solidFill>
          <a:srgbClr val="156082">
            <a:lumMod val="60000"/>
            <a:lumOff val="40000"/>
          </a:srgbClr>
        </a:solidFill>
        <a:ln w="19050" cap="flat" cmpd="sng" algn="ctr">
          <a:solidFill>
            <a:srgbClr val="E8E8E8">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Exploring The Data</a:t>
          </a:r>
        </a:p>
      </dsp:txBody>
      <dsp:txXfrm>
        <a:off x="661879" y="2381294"/>
        <a:ext cx="2203672" cy="936845"/>
      </dsp:txXfrm>
    </dsp:sp>
    <dsp:sp modelId="{A91DF9ED-CEB3-4B45-A635-39751ECFFDB1}">
      <dsp:nvSpPr>
        <dsp:cNvPr id="0" name=""/>
        <dsp:cNvSpPr/>
      </dsp:nvSpPr>
      <dsp:spPr>
        <a:xfrm>
          <a:off x="898250" y="3528221"/>
          <a:ext cx="3170361" cy="995139"/>
        </a:xfrm>
        <a:prstGeom prst="roundRect">
          <a:avLst>
            <a:gd name="adj" fmla="val 10000"/>
          </a:avLst>
        </a:prstGeom>
        <a:solidFill>
          <a:srgbClr val="156082">
            <a:lumMod val="60000"/>
            <a:lumOff val="40000"/>
          </a:srgbClr>
        </a:solidFill>
        <a:ln w="19050" cap="flat" cmpd="sng" algn="ctr">
          <a:solidFill>
            <a:srgbClr val="E8E8E8">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solidFill>
                <a:prstClr val="white"/>
              </a:solidFill>
              <a:latin typeface="Lato" panose="020F0502020204030203" pitchFamily="34" charset="0"/>
              <a:ea typeface="Lato" panose="020F0502020204030203" pitchFamily="34" charset="0"/>
              <a:cs typeface="Lato" panose="020F0502020204030203" pitchFamily="34" charset="0"/>
            </a:rPr>
            <a:t>Deriving Key Insights</a:t>
          </a:r>
        </a:p>
      </dsp:txBody>
      <dsp:txXfrm>
        <a:off x="927397" y="3557368"/>
        <a:ext cx="2199709" cy="936845"/>
      </dsp:txXfrm>
    </dsp:sp>
    <dsp:sp modelId="{324610B9-89F1-4671-A84E-0F20238BD823}">
      <dsp:nvSpPr>
        <dsp:cNvPr id="0" name=""/>
        <dsp:cNvSpPr/>
      </dsp:nvSpPr>
      <dsp:spPr>
        <a:xfrm>
          <a:off x="2629181" y="762186"/>
          <a:ext cx="646840" cy="646840"/>
        </a:xfrm>
        <a:prstGeom prst="downArrow">
          <a:avLst>
            <a:gd name="adj1" fmla="val 55000"/>
            <a:gd name="adj2" fmla="val 45000"/>
          </a:avLst>
        </a:prstGeom>
        <a:solidFill>
          <a:srgbClr val="FFFF00">
            <a:alpha val="90000"/>
          </a:srgb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2774720" y="762186"/>
        <a:ext cx="355762" cy="486747"/>
      </dsp:txXfrm>
    </dsp:sp>
    <dsp:sp modelId="{BEE82D81-B913-4E7F-A8A4-27776237929E}">
      <dsp:nvSpPr>
        <dsp:cNvPr id="0" name=""/>
        <dsp:cNvSpPr/>
      </dsp:nvSpPr>
      <dsp:spPr>
        <a:xfrm>
          <a:off x="2894698" y="1938260"/>
          <a:ext cx="646840" cy="646840"/>
        </a:xfrm>
        <a:prstGeom prst="downArrow">
          <a:avLst>
            <a:gd name="adj1" fmla="val 55000"/>
            <a:gd name="adj2" fmla="val 45000"/>
          </a:avLst>
        </a:prstGeom>
        <a:solidFill>
          <a:srgbClr val="FFFF00">
            <a:alpha val="90000"/>
          </a:srgbClr>
        </a:solidFill>
        <a:ln w="19050" cap="flat" cmpd="sng" algn="ctr">
          <a:solidFill>
            <a:srgbClr val="0E2841">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solidFill>
              <a:prstClr val="black">
                <a:hueOff val="0"/>
                <a:satOff val="0"/>
                <a:lumOff val="0"/>
                <a:alphaOff val="0"/>
              </a:prstClr>
            </a:solidFill>
            <a:latin typeface="Aptos" panose="02110004020202020204"/>
            <a:ea typeface="+mn-ea"/>
            <a:cs typeface="+mn-cs"/>
          </a:endParaRPr>
        </a:p>
      </dsp:txBody>
      <dsp:txXfrm>
        <a:off x="3040237" y="1938260"/>
        <a:ext cx="355762" cy="486747"/>
      </dsp:txXfrm>
    </dsp:sp>
    <dsp:sp modelId="{0D2C1569-A380-452F-BCC5-1EA067D6E91A}">
      <dsp:nvSpPr>
        <dsp:cNvPr id="0" name=""/>
        <dsp:cNvSpPr/>
      </dsp:nvSpPr>
      <dsp:spPr>
        <a:xfrm>
          <a:off x="3156253" y="3114334"/>
          <a:ext cx="646840" cy="646840"/>
        </a:xfrm>
        <a:prstGeom prst="downArrow">
          <a:avLst>
            <a:gd name="adj1" fmla="val 55000"/>
            <a:gd name="adj2" fmla="val 45000"/>
          </a:avLst>
        </a:prstGeom>
        <a:solidFill>
          <a:srgbClr val="FFFF00">
            <a:alpha val="90000"/>
          </a:srgbClr>
        </a:solidFill>
        <a:ln w="19050" cap="flat" cmpd="sng" algn="ctr">
          <a:solidFill>
            <a:srgbClr val="0E2841">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solidFill>
              <a:prstClr val="black">
                <a:hueOff val="0"/>
                <a:satOff val="0"/>
                <a:lumOff val="0"/>
                <a:alphaOff val="0"/>
              </a:prstClr>
            </a:solidFill>
            <a:latin typeface="Aptos" panose="02110004020202020204"/>
            <a:ea typeface="+mn-ea"/>
            <a:cs typeface="+mn-cs"/>
          </a:endParaRPr>
        </a:p>
      </dsp:txBody>
      <dsp:txXfrm>
        <a:off x="3301792" y="3114334"/>
        <a:ext cx="355762" cy="48674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D478-B94F-C50B-217D-36FBBF2088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90BCC0-B17F-FACA-58BE-0A84923BA1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CFFA19-F985-3093-603C-436F5A765C96}"/>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5C7290B4-D77F-4F25-B01D-9BA3A99A30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1E2D4-DC11-6ABA-AE32-450B69523E81}"/>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899323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81511-4BC9-3333-FE67-2676B11790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57592F-5955-B982-9C2F-783FAF79AE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73430-DBAE-8316-6D40-74D96DC8E0FC}"/>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50D4C55F-D74A-2747-7A49-0B84DDC3F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990CC-168A-0B33-6968-B34BE00DD800}"/>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4216032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0401-611C-B7DB-6274-B28D014F5E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BDC0E8-AA5C-3929-6EA2-F578A28267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7AD7BE-35F8-8183-48C6-8450755467C6}"/>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7B0F564F-D022-600F-8CA3-02F3EC941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A5B11-F239-68A6-4A67-E02A1D7A70F8}"/>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1543805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FD9-D7DE-4155-8E1F-E0695E1CA4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DAA91-D670-3665-7BE7-A11120060E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22B227-0E7F-F057-F525-8D2CED028B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60891D-452A-AA79-7E02-E1B2D45E8FC3}"/>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6" name="Footer Placeholder 5">
            <a:extLst>
              <a:ext uri="{FF2B5EF4-FFF2-40B4-BE49-F238E27FC236}">
                <a16:creationId xmlns:a16="http://schemas.microsoft.com/office/drawing/2014/main" id="{CBA5BB39-B0DB-B82A-DB95-01663757E9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178FF-E414-3690-6F41-8947595C8EE4}"/>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3964216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1F4B-0CE0-4BDB-4795-60D436D635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1E3F7-6160-5BC7-0E7B-AE7FDAB042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0ECD69-188B-60E0-A28C-029285122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3D0CBD-05D3-EDA1-3945-89370BF3B9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DAB4D-8555-6B57-F69C-21A5C3C870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87469E-9223-A28C-EC4F-7D30EB22D6FE}"/>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8" name="Footer Placeholder 7">
            <a:extLst>
              <a:ext uri="{FF2B5EF4-FFF2-40B4-BE49-F238E27FC236}">
                <a16:creationId xmlns:a16="http://schemas.microsoft.com/office/drawing/2014/main" id="{BBA4EEFB-8F69-9597-824D-362F215A7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117E73-2C7A-A67A-7336-97FD0CB5198B}"/>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3925897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4ABA-FE72-8542-E8F0-93AB609C7F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D4C470-E05D-A3BE-5166-16140C926CF7}"/>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4" name="Footer Placeholder 3">
            <a:extLst>
              <a:ext uri="{FF2B5EF4-FFF2-40B4-BE49-F238E27FC236}">
                <a16:creationId xmlns:a16="http://schemas.microsoft.com/office/drawing/2014/main" id="{B93CAAAB-E452-C0DA-EE0C-2BEEF1DFDF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2A5F0-D7F1-5F1F-E723-9E0CA6EFE07F}"/>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298003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8E0B3B-FB7B-CBA5-EE86-D97C29E6CB79}"/>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3" name="Footer Placeholder 2">
            <a:extLst>
              <a:ext uri="{FF2B5EF4-FFF2-40B4-BE49-F238E27FC236}">
                <a16:creationId xmlns:a16="http://schemas.microsoft.com/office/drawing/2014/main" id="{ACB24117-3897-D27B-0788-591A07287F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72ABB1-44B5-07F9-FEB7-3129FE28671A}"/>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2702185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5DE09-563D-6AE9-3E5A-CD931F20D0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334055-8DC4-CF51-6012-B7539E8C21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1ECD16-40A5-4493-E5E4-A2E0F5B2D2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7CAF55-32BE-F9B3-744A-4448D3ED6B5E}"/>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6" name="Footer Placeholder 5">
            <a:extLst>
              <a:ext uri="{FF2B5EF4-FFF2-40B4-BE49-F238E27FC236}">
                <a16:creationId xmlns:a16="http://schemas.microsoft.com/office/drawing/2014/main" id="{D15AC367-44FC-8E6C-045D-99F23969A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6FA3B-4919-BDB6-7708-A453F9519231}"/>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330181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69740-5304-1ED6-4873-A1F408D07A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EC1ACF-534E-ACA4-7698-D949F8D32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666E19-8517-79AE-810B-323E870FCB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0FF0B1-F7F6-532A-D57C-14BCE50EA6BE}"/>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6" name="Footer Placeholder 5">
            <a:extLst>
              <a:ext uri="{FF2B5EF4-FFF2-40B4-BE49-F238E27FC236}">
                <a16:creationId xmlns:a16="http://schemas.microsoft.com/office/drawing/2014/main" id="{4A894BFB-5B94-2192-15CB-50B1E3A83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E99130-8029-1E7E-C97D-B05280132187}"/>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315547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F768-1A6A-AE8D-28DF-372B2E345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A5B31D-9560-DD9C-9CB4-79878A9C6C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23BFC-B4C2-AF25-8587-AD4693A5040A}"/>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B3BDECC3-B5B4-CD37-9081-C44426A1A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928CB1-EC59-7C8A-C0C4-3D4A476834D8}"/>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1472177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D4C29-EF1C-D6A7-9FF5-5235E1DD70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3D8678-E228-AE25-AED6-2813A187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913AF9-7A3E-E4F1-7DA3-68C4E64FF046}"/>
              </a:ext>
            </a:extLst>
          </p:cNvPr>
          <p:cNvSpPr>
            <a:spLocks noGrp="1"/>
          </p:cNvSpPr>
          <p:nvPr>
            <p:ph type="dt" sz="half" idx="10"/>
          </p:nvPr>
        </p:nvSpPr>
        <p:spPr/>
        <p:txBody>
          <a:body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068B873B-8C69-8E5E-9223-F6CD3CA905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5B7B9-DDE3-8CFC-9B26-0BDBCF2857E3}"/>
              </a:ext>
            </a:extLst>
          </p:cNvPr>
          <p:cNvSpPr>
            <a:spLocks noGrp="1"/>
          </p:cNvSpPr>
          <p:nvPr>
            <p:ph type="sldNum" sz="quarter" idx="12"/>
          </p:nvPr>
        </p:nvSpPr>
        <p:spPr/>
        <p:txBody>
          <a:bodyPr/>
          <a:lstStyle/>
          <a:p>
            <a:fld id="{02AF3A75-115F-4EE6-8093-7AE5DEE17D93}" type="slidenum">
              <a:rPr lang="en-US" smtClean="0"/>
              <a:t>‹#›</a:t>
            </a:fld>
            <a:endParaRPr lang="en-US"/>
          </a:p>
        </p:txBody>
      </p:sp>
    </p:spTree>
    <p:extLst>
      <p:ext uri="{BB962C8B-B14F-4D97-AF65-F5344CB8AC3E}">
        <p14:creationId xmlns:p14="http://schemas.microsoft.com/office/powerpoint/2010/main" val="1307808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57D61-EDEF-781F-038C-D10420FA00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E039AF-8610-EEB0-B9D1-3E2AD0B0E3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3D6E69-0AB0-DBF9-D4E9-BC7041EACF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519CAC-258F-413E-B84F-AF70C57825AC}" type="datetimeFigureOut">
              <a:rPr lang="en-US" smtClean="0"/>
              <a:t>2/24/2026</a:t>
            </a:fld>
            <a:endParaRPr lang="en-US"/>
          </a:p>
        </p:txBody>
      </p:sp>
      <p:sp>
        <p:nvSpPr>
          <p:cNvPr id="5" name="Footer Placeholder 4">
            <a:extLst>
              <a:ext uri="{FF2B5EF4-FFF2-40B4-BE49-F238E27FC236}">
                <a16:creationId xmlns:a16="http://schemas.microsoft.com/office/drawing/2014/main" id="{A0187237-CEDA-698E-B906-49F96DA005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237DB7-817A-0842-518B-3036EDFCF5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AF3A75-115F-4EE6-8093-7AE5DEE17D93}" type="slidenum">
              <a:rPr lang="en-US" smtClean="0"/>
              <a:t>‹#›</a:t>
            </a:fld>
            <a:endParaRPr lang="en-US"/>
          </a:p>
        </p:txBody>
      </p:sp>
    </p:spTree>
    <p:extLst>
      <p:ext uri="{BB962C8B-B14F-4D97-AF65-F5344CB8AC3E}">
        <p14:creationId xmlns:p14="http://schemas.microsoft.com/office/powerpoint/2010/main" val="8159200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8935964-C7DF-E1E8-B8FC-088F99780D84}"/>
              </a:ext>
            </a:extLst>
          </p:cNvPr>
          <p:cNvSpPr txBox="1">
            <a:spLocks/>
          </p:cNvSpPr>
          <p:nvPr/>
        </p:nvSpPr>
        <p:spPr>
          <a:xfrm>
            <a:off x="247302" y="2528000"/>
            <a:ext cx="3871609" cy="1801999"/>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latin typeface="Britannic Bold" panose="020B0903060703020204" pitchFamily="34" charset="0"/>
              </a:rPr>
              <a:t>Bank CRM Analysis</a:t>
            </a:r>
          </a:p>
        </p:txBody>
      </p:sp>
      <p:pic>
        <p:nvPicPr>
          <p:cNvPr id="1032" name="Picture 8" descr="Systematize modern banking sector with CRM software.">
            <a:extLst>
              <a:ext uri="{FF2B5EF4-FFF2-40B4-BE49-F238E27FC236}">
                <a16:creationId xmlns:a16="http://schemas.microsoft.com/office/drawing/2014/main" id="{A40EA728-C9C5-8D7E-48C9-37DA6AE7C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5190" y="0"/>
            <a:ext cx="7376809" cy="5369409"/>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5F95F464-15E2-FB9E-0137-00E06F547BC0}"/>
              </a:ext>
            </a:extLst>
          </p:cNvPr>
          <p:cNvSpPr>
            <a:spLocks noGrp="1"/>
          </p:cNvSpPr>
          <p:nvPr>
            <p:ph type="subTitle" idx="1"/>
          </p:nvPr>
        </p:nvSpPr>
        <p:spPr>
          <a:xfrm>
            <a:off x="247302" y="5505596"/>
            <a:ext cx="4146223" cy="1099485"/>
          </a:xfrm>
        </p:spPr>
        <p:txBody>
          <a:bodyPr>
            <a:noAutofit/>
          </a:bodyPr>
          <a:lstStyle/>
          <a:p>
            <a:pPr algn="ctr">
              <a:lnSpc>
                <a:spcPct val="100000"/>
              </a:lnSpc>
            </a:pPr>
            <a:r>
              <a:rPr lang="en-GB" dirty="0">
                <a:latin typeface="Lato" panose="020F0502020204030203" pitchFamily="34" charset="0"/>
                <a:ea typeface="Lato" panose="020F0502020204030203" pitchFamily="34" charset="0"/>
                <a:cs typeface="Lato" panose="020F0502020204030203" pitchFamily="34" charset="0"/>
              </a:rPr>
              <a:t>Presented by Rajat </a:t>
            </a:r>
          </a:p>
          <a:p>
            <a:pPr algn="ctr">
              <a:lnSpc>
                <a:spcPct val="100000"/>
              </a:lnSpc>
            </a:pPr>
            <a:r>
              <a:rPr lang="en-GB" dirty="0">
                <a:latin typeface="Lato" panose="020F0502020204030203" pitchFamily="34" charset="0"/>
                <a:ea typeface="Lato" panose="020F0502020204030203" pitchFamily="34" charset="0"/>
                <a:cs typeface="Lato" panose="020F0502020204030203" pitchFamily="34" charset="0"/>
              </a:rPr>
              <a:t>24/02/2026</a:t>
            </a:r>
            <a:endParaRPr lang="en-US" dirty="0">
              <a:latin typeface="Lato" panose="020F0502020204030203" pitchFamily="34" charset="0"/>
              <a:ea typeface="Lato" panose="020F0502020204030203" pitchFamily="34" charset="0"/>
              <a:cs typeface="Lato" panose="020F0502020204030203" pitchFamily="34" charset="0"/>
            </a:endParaRPr>
          </a:p>
        </p:txBody>
      </p:sp>
      <p:pic>
        <p:nvPicPr>
          <p:cNvPr id="1034" name="Picture 10" descr="Customer Relationship Management Logo Icon Design Stock Vector -  Illustration of design, technology: 128469718">
            <a:extLst>
              <a:ext uri="{FF2B5EF4-FFF2-40B4-BE49-F238E27FC236}">
                <a16:creationId xmlns:a16="http://schemas.microsoft.com/office/drawing/2014/main" id="{8B1C6395-E561-552E-77B5-CAE6F4521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39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3E6D2D89-8E4F-CEE2-E909-E91F6F78F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E632D600-94DB-0F8B-7E7C-9C59432A071B}"/>
              </a:ext>
            </a:extLst>
          </p:cNvPr>
          <p:cNvSpPr>
            <a:spLocks noGrp="1"/>
          </p:cNvSpPr>
          <p:nvPr>
            <p:ph type="title"/>
          </p:nvPr>
        </p:nvSpPr>
        <p:spPr>
          <a:xfrm>
            <a:off x="1402405" y="365125"/>
            <a:ext cx="2177374" cy="875100"/>
          </a:xfrm>
        </p:spPr>
        <p:txBody>
          <a:bodyPr/>
          <a:lstStyle/>
          <a:p>
            <a:r>
              <a:rPr lang="en-US" dirty="0">
                <a:latin typeface="Britannic Bold" panose="020B0903060703020204" pitchFamily="34" charset="0"/>
                <a:ea typeface="Lato" panose="020F0502020204030203" pitchFamily="34" charset="0"/>
                <a:cs typeface="Lato" panose="020F0502020204030203" pitchFamily="34" charset="0"/>
              </a:rPr>
              <a:t>Agenda</a:t>
            </a:r>
          </a:p>
        </p:txBody>
      </p:sp>
      <p:pic>
        <p:nvPicPr>
          <p:cNvPr id="16386" name="Picture 2" descr="Easy Fix: Ways to Make an Agenda Work for You - Civility">
            <a:extLst>
              <a:ext uri="{FF2B5EF4-FFF2-40B4-BE49-F238E27FC236}">
                <a16:creationId xmlns:a16="http://schemas.microsoft.com/office/drawing/2014/main" id="{B59D3D74-EDEB-B6AE-FB5D-11E0718F4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2162" y="1240225"/>
            <a:ext cx="4336003" cy="43775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C81B451-57D8-A104-D5A3-AEB31083C4A2}"/>
              </a:ext>
            </a:extLst>
          </p:cNvPr>
          <p:cNvSpPr txBox="1"/>
          <p:nvPr/>
        </p:nvSpPr>
        <p:spPr>
          <a:xfrm>
            <a:off x="964659" y="1240225"/>
            <a:ext cx="3724072" cy="4093428"/>
          </a:xfrm>
          <a:prstGeom prst="rect">
            <a:avLst/>
          </a:prstGeom>
          <a:noFill/>
        </p:spPr>
        <p:txBody>
          <a:bodyPr wrap="square">
            <a:spAutoFit/>
          </a:bodyPr>
          <a:lstStyle/>
          <a:p>
            <a:pPr marL="285750" indent="-285750" rtl="0" fontAlgn="base">
              <a:buFont typeface="Wingdings" panose="05000000000000000000" pitchFamily="2" charset="2"/>
              <a:buChar char="q"/>
            </a:pPr>
            <a:r>
              <a:rPr lang="en-US" sz="2000" b="0" i="0" u="none" strike="noStrike" dirty="0">
                <a:effectLst/>
                <a:latin typeface="Lato" panose="020F0502020204030203" pitchFamily="34" charset="0"/>
                <a:ea typeface="Lato" panose="020F0502020204030203" pitchFamily="34" charset="0"/>
                <a:cs typeface="Lato" panose="020F0502020204030203" pitchFamily="34" charset="0"/>
              </a:rPr>
              <a:t>About CRM Bank</a:t>
            </a:r>
          </a:p>
          <a:p>
            <a:pPr marL="285750" indent="-285750" rtl="0" fontAlgn="base">
              <a:buFont typeface="Wingdings" panose="05000000000000000000" pitchFamily="2" charset="2"/>
              <a:buChar char="q"/>
            </a:pPr>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a:p>
            <a:pPr marL="285750" indent="-285750" fontAlgn="base">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Problem Statement</a:t>
            </a:r>
            <a:br>
              <a:rPr lang="en-US" sz="2000" b="0" dirty="0">
                <a:effectLst/>
                <a:latin typeface="Lato" panose="020F0502020204030203" pitchFamily="34" charset="0"/>
                <a:ea typeface="Lato" panose="020F0502020204030203" pitchFamily="34" charset="0"/>
                <a:cs typeface="Lato" panose="020F0502020204030203" pitchFamily="34" charset="0"/>
              </a:rPr>
            </a:br>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q"/>
            </a:pPr>
            <a:r>
              <a:rPr lang="en-US" sz="2000" b="0" i="0" u="none" strike="noStrike" dirty="0">
                <a:effectLst/>
                <a:latin typeface="Lato" panose="020F0502020204030203" pitchFamily="34" charset="0"/>
                <a:ea typeface="Lato" panose="020F0502020204030203" pitchFamily="34" charset="0"/>
                <a:cs typeface="Lato" panose="020F0502020204030203" pitchFamily="34" charset="0"/>
              </a:rPr>
              <a:t>Data Description</a:t>
            </a:r>
          </a:p>
          <a:p>
            <a:pPr marL="285750" indent="-285750" rtl="0" fontAlgn="base">
              <a:buFont typeface="Wingdings" panose="05000000000000000000" pitchFamily="2" charset="2"/>
              <a:buChar char="q"/>
            </a:pPr>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q"/>
            </a:pPr>
            <a:r>
              <a:rPr lang="en-US" sz="2000" b="0" i="0" u="none" strike="noStrike" dirty="0">
                <a:effectLst/>
                <a:latin typeface="Lato" panose="020F0502020204030203" pitchFamily="34" charset="0"/>
                <a:ea typeface="Lato" panose="020F0502020204030203" pitchFamily="34" charset="0"/>
                <a:cs typeface="Lato" panose="020F0502020204030203" pitchFamily="34" charset="0"/>
              </a:rPr>
              <a:t>Objective Key Metrics and Visualizations</a:t>
            </a:r>
          </a:p>
          <a:p>
            <a:pPr marL="285750" indent="-285750" rtl="0" fontAlgn="base">
              <a:buFont typeface="Wingdings" panose="05000000000000000000" pitchFamily="2" charset="2"/>
              <a:buChar char="q"/>
            </a:pPr>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q"/>
            </a:pPr>
            <a:r>
              <a:rPr lang="en-US" sz="2000" b="0" i="0" u="none" strike="noStrike" dirty="0">
                <a:effectLst/>
                <a:latin typeface="Lato" panose="020F0502020204030203" pitchFamily="34" charset="0"/>
                <a:ea typeface="Lato" panose="020F0502020204030203" pitchFamily="34" charset="0"/>
                <a:cs typeface="Lato" panose="020F0502020204030203" pitchFamily="34" charset="0"/>
              </a:rPr>
              <a:t>Subjective Question for Insights</a:t>
            </a:r>
          </a:p>
          <a:p>
            <a:pPr rtl="0" fontAlgn="base"/>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Recommendation</a:t>
            </a:r>
            <a:endParaRPr lang="en-US" sz="2000" b="0" i="0" u="none" strike="noStrike"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73073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AD2599C4-6E2E-0953-EE40-B8DA60326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CCCCDD8-3B5D-3E58-1349-F768C2BD13BD}"/>
              </a:ext>
            </a:extLst>
          </p:cNvPr>
          <p:cNvSpPr txBox="1"/>
          <p:nvPr/>
        </p:nvSpPr>
        <p:spPr>
          <a:xfrm>
            <a:off x="453242" y="412688"/>
            <a:ext cx="5782188" cy="6124754"/>
          </a:xfrm>
          <a:prstGeom prst="rect">
            <a:avLst/>
          </a:prstGeom>
          <a:noFill/>
        </p:spPr>
        <p:txBody>
          <a:bodyPr wrap="square">
            <a:spAutoFit/>
          </a:bodyPr>
          <a:lstStyle/>
          <a:p>
            <a:pPr algn="ctr" rtl="0">
              <a:buNone/>
            </a:pPr>
            <a:r>
              <a:rPr lang="en-US" sz="3600" b="0" i="0" u="none" strike="noStrike" dirty="0">
                <a:effectLst/>
                <a:latin typeface="Britannic Bold" panose="020B0903060703020204" pitchFamily="34" charset="0"/>
                <a:ea typeface="Lato" panose="020F0502020204030203" pitchFamily="34" charset="0"/>
                <a:cs typeface="Lato" panose="020F0502020204030203" pitchFamily="34" charset="0"/>
              </a:rPr>
              <a:t>About Bank CRM</a:t>
            </a:r>
          </a:p>
          <a:p>
            <a:pPr algn="ctr" rtl="0">
              <a:buNone/>
            </a:pPr>
            <a:endParaRPr lang="en-US" sz="1600" b="0" i="0" u="none" strike="noStrike" dirty="0">
              <a:effectLst/>
              <a:latin typeface="Britannic Bold" panose="020B0903060703020204" pitchFamily="34" charset="0"/>
              <a:ea typeface="Lato" panose="020F0502020204030203" pitchFamily="34" charset="0"/>
              <a:cs typeface="Lato" panose="020F0502020204030203" pitchFamily="34" charset="0"/>
            </a:endParaRPr>
          </a:p>
          <a:p>
            <a:pPr marL="342900" indent="-342900" algn="ctr">
              <a:buFont typeface="Wingdings" panose="05000000000000000000" pitchFamily="2" charset="2"/>
              <a:buChar char="Ø"/>
            </a:pPr>
            <a:r>
              <a:rPr lang="en-US" sz="2000" dirty="0">
                <a:latin typeface="Lato" panose="020F0502020204030203" pitchFamily="34" charset="0"/>
                <a:ea typeface="Lato" panose="020F0502020204030203" pitchFamily="34" charset="0"/>
                <a:cs typeface="Lato" panose="020F0502020204030203" pitchFamily="34" charset="0"/>
              </a:rPr>
              <a:t>Bank CRM (</a:t>
            </a:r>
            <a:r>
              <a:rPr lang="en-US" sz="2000" b="1" dirty="0">
                <a:latin typeface="Lato" panose="020F0502020204030203" pitchFamily="34" charset="0"/>
                <a:ea typeface="Lato" panose="020F0502020204030203" pitchFamily="34" charset="0"/>
                <a:cs typeface="Lato" panose="020F0502020204030203" pitchFamily="34" charset="0"/>
              </a:rPr>
              <a:t>Customer Relationship Management</a:t>
            </a:r>
            <a:r>
              <a:rPr lang="en-US" sz="2000" dirty="0">
                <a:latin typeface="Lato" panose="020F0502020204030203" pitchFamily="34" charset="0"/>
                <a:ea typeface="Lato" panose="020F0502020204030203" pitchFamily="34" charset="0"/>
                <a:cs typeface="Lato" panose="020F0502020204030203" pitchFamily="34" charset="0"/>
              </a:rPr>
              <a:t>) is a specialized software system used by financial institutions to centralize customer data—such as transaction history, demographics, and preferences—across all channels. </a:t>
            </a:r>
          </a:p>
          <a:p>
            <a:pPr algn="ctr"/>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algn="ctr">
              <a:buFont typeface="Wingdings" panose="05000000000000000000" pitchFamily="2" charset="2"/>
              <a:buChar char="Ø"/>
            </a:pPr>
            <a:r>
              <a:rPr lang="en-US" sz="2000" dirty="0">
                <a:latin typeface="Lato" panose="020F0502020204030203" pitchFamily="34" charset="0"/>
                <a:ea typeface="Lato" panose="020F0502020204030203" pitchFamily="34" charset="0"/>
                <a:cs typeface="Lato" panose="020F0502020204030203" pitchFamily="34" charset="0"/>
              </a:rPr>
              <a:t>CRM system also tracks customer behaviors and trends, all of which can be used to identify new sales opportunities and improve marketing strategies.</a:t>
            </a:r>
          </a:p>
          <a:p>
            <a:pPr marL="342900" indent="-342900" algn="ctr">
              <a:buFont typeface="Wingdings" panose="05000000000000000000" pitchFamily="2" charset="2"/>
              <a:buChar char="Ø"/>
            </a:pPr>
            <a:r>
              <a:rPr lang="en-US" sz="2000" dirty="0"/>
              <a:t>Top CRM tools include </a:t>
            </a:r>
            <a:r>
              <a:rPr lang="en-US" sz="2000" b="1" dirty="0"/>
              <a:t>Salesforce</a:t>
            </a:r>
            <a:r>
              <a:rPr lang="en-US" sz="2000" dirty="0"/>
              <a:t>, </a:t>
            </a:r>
            <a:r>
              <a:rPr lang="en-US" sz="2000" b="1" dirty="0"/>
              <a:t>HubSpot</a:t>
            </a:r>
            <a:r>
              <a:rPr lang="en-US" sz="2000" dirty="0"/>
              <a:t>, and </a:t>
            </a:r>
            <a:r>
              <a:rPr lang="en-US" sz="2000" b="1" dirty="0"/>
              <a:t>Zoho</a:t>
            </a:r>
            <a:r>
              <a:rPr lang="en-US" sz="2000" dirty="0"/>
              <a:t> for comprehensive features.</a:t>
            </a:r>
            <a:br>
              <a:rPr lang="en-US" sz="2000" dirty="0"/>
            </a:br>
            <a:r>
              <a:rPr lang="en-US" sz="2000" b="1" dirty="0"/>
              <a:t>Pipedrive</a:t>
            </a:r>
            <a:r>
              <a:rPr lang="en-US" sz="2000" dirty="0"/>
              <a:t> excels in sales pipeline management, while </a:t>
            </a:r>
            <a:r>
              <a:rPr lang="en-US" sz="2000" b="1" dirty="0"/>
              <a:t>Monday.com</a:t>
            </a:r>
            <a:r>
              <a:rPr lang="en-US" sz="2000" dirty="0"/>
              <a:t> is known for user-friendliness and easy adoption.</a:t>
            </a:r>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algn="ctr">
              <a:buFont typeface="Wingdings" panose="05000000000000000000" pitchFamily="2" charset="2"/>
              <a:buChar char="Ø"/>
            </a:pPr>
            <a:endParaRPr lang="en-US" sz="2000" dirty="0">
              <a:latin typeface="Lato" panose="020F0502020204030203" pitchFamily="34" charset="0"/>
              <a:ea typeface="Lato" panose="020F0502020204030203" pitchFamily="34" charset="0"/>
              <a:cs typeface="Lato" panose="020F0502020204030203" pitchFamily="34" charset="0"/>
            </a:endParaRPr>
          </a:p>
        </p:txBody>
      </p:sp>
      <p:pic>
        <p:nvPicPr>
          <p:cNvPr id="15366" name="Picture 6" descr="Tekshapers">
            <a:extLst>
              <a:ext uri="{FF2B5EF4-FFF2-40B4-BE49-F238E27FC236}">
                <a16:creationId xmlns:a16="http://schemas.microsoft.com/office/drawing/2014/main" id="{C6A1B767-A2C8-6C62-1D62-78BAEA1050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053" y="1502442"/>
            <a:ext cx="5466945" cy="4217422"/>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8" descr="CRM Process Management In HDFC | PPTX">
            <a:extLst>
              <a:ext uri="{FF2B5EF4-FFF2-40B4-BE49-F238E27FC236}">
                <a16:creationId xmlns:a16="http://schemas.microsoft.com/office/drawing/2014/main" id="{150F894F-7FDC-C7B5-37B4-52C295F708F9}"/>
              </a:ext>
            </a:extLst>
          </p:cNvPr>
          <p:cNvSpPr>
            <a:spLocks noChangeAspect="1" noChangeArrowheads="1"/>
          </p:cNvSpPr>
          <p:nvPr/>
        </p:nvSpPr>
        <p:spPr bwMode="auto">
          <a:xfrm>
            <a:off x="5943600" y="3276600"/>
            <a:ext cx="2568102" cy="25681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CRM Process Management In HDFC | PPTX">
            <a:extLst>
              <a:ext uri="{FF2B5EF4-FFF2-40B4-BE49-F238E27FC236}">
                <a16:creationId xmlns:a16="http://schemas.microsoft.com/office/drawing/2014/main" id="{2F4111F2-3594-24BA-BB5B-FC5BB9B7F80A}"/>
              </a:ext>
            </a:extLst>
          </p:cNvPr>
          <p:cNvSpPr>
            <a:spLocks noChangeAspect="1" noChangeArrowheads="1"/>
          </p:cNvSpPr>
          <p:nvPr/>
        </p:nvSpPr>
        <p:spPr bwMode="auto">
          <a:xfrm>
            <a:off x="5943599" y="3276599"/>
            <a:ext cx="5976021" cy="59760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7694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CED1108D-CC64-7ECB-F621-94D24AA4D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D041DA-0DAA-C55F-E298-ECB6D9B545A2}"/>
              </a:ext>
            </a:extLst>
          </p:cNvPr>
          <p:cNvSpPr txBox="1"/>
          <p:nvPr/>
        </p:nvSpPr>
        <p:spPr>
          <a:xfrm>
            <a:off x="634729" y="676631"/>
            <a:ext cx="6094378" cy="707886"/>
          </a:xfrm>
          <a:prstGeom prst="rect">
            <a:avLst/>
          </a:prstGeom>
          <a:noFill/>
        </p:spPr>
        <p:txBody>
          <a:bodyPr wrap="square">
            <a:spAutoFit/>
          </a:bodyPr>
          <a:lstStyle/>
          <a:p>
            <a:pPr algn="ctr" rtl="0">
              <a:buNone/>
            </a:pPr>
            <a:r>
              <a:rPr lang="en-US" sz="4000" b="0" i="0" u="none" strike="noStrike" dirty="0">
                <a:effectLst/>
                <a:latin typeface="Britannic Bold" panose="020B0903060703020204" pitchFamily="34" charset="0"/>
                <a:ea typeface="Lato" panose="020F0502020204030203" pitchFamily="34" charset="0"/>
                <a:cs typeface="Lato" panose="020F0502020204030203" pitchFamily="34" charset="0"/>
              </a:rPr>
              <a:t>Business Goal </a:t>
            </a:r>
            <a:endParaRPr lang="en-US" sz="4000" dirty="0">
              <a:latin typeface="Britannic Bold" panose="020B0903060703020204"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8BFB723-DA0D-AE79-583F-89F37AA60F36}"/>
              </a:ext>
            </a:extLst>
          </p:cNvPr>
          <p:cNvSpPr txBox="1"/>
          <p:nvPr/>
        </p:nvSpPr>
        <p:spPr>
          <a:xfrm>
            <a:off x="834552" y="1384517"/>
            <a:ext cx="7404776" cy="5263749"/>
          </a:xfrm>
          <a:prstGeom prst="rect">
            <a:avLst/>
          </a:prstGeom>
          <a:noFill/>
        </p:spPr>
        <p:txBody>
          <a:bodyPr wrap="square">
            <a:spAutoFit/>
          </a:bodyPr>
          <a:lstStyle/>
          <a:p>
            <a:pPr marL="0" lvl="0" indent="0" algn="l" rtl="0">
              <a:lnSpc>
                <a:spcPct val="150000"/>
              </a:lnSpc>
              <a:spcBef>
                <a:spcPts val="0"/>
              </a:spcBef>
              <a:buNone/>
            </a:pPr>
            <a:r>
              <a:rPr lang="en-US" sz="2000" dirty="0">
                <a:latin typeface="Lato" panose="020F0502020204030203" pitchFamily="34" charset="0"/>
                <a:ea typeface="Lato" panose="020F0502020204030203" pitchFamily="34" charset="0"/>
                <a:cs typeface="Lato" panose="020F0502020204030203" pitchFamily="34" charset="0"/>
              </a:rPr>
              <a:t>The bank is experiencing customer churn and inconsistent service satisfaction despite having extensive customer data. However, insights from demographics, transactions, exit records, and active customer profiles are not fully leveraged for decision-making.</a:t>
            </a:r>
          </a:p>
          <a:p>
            <a:pPr lvl="0">
              <a:lnSpc>
                <a:spcPct val="150000"/>
              </a:lnSpc>
              <a:spcAft>
                <a:spcPts val="600"/>
              </a:spcAft>
            </a:pPr>
            <a:r>
              <a:rPr lang="en-US" sz="2000" dirty="0"/>
              <a:t>There is a need to analyze and integrate these datasets to:</a:t>
            </a:r>
            <a:endParaRPr lang="en-US" sz="2000" dirty="0">
              <a:latin typeface="Lato" panose="020F0502020204030203" pitchFamily="34" charset="0"/>
              <a:ea typeface="Lato" panose="020F0502020204030203" pitchFamily="34" charset="0"/>
              <a:cs typeface="Lato" panose="020F0502020204030203" pitchFamily="34" charset="0"/>
            </a:endParaRPr>
          </a:p>
          <a:p>
            <a:pPr marL="342900" lvl="0" indent="-342900" eaLnBrk="0" fontAlgn="base" hangingPunct="0">
              <a:lnSpc>
                <a:spcPct val="150000"/>
              </a:lnSpc>
              <a:spcBef>
                <a:spcPct val="0"/>
              </a:spcBef>
              <a:spcAft>
                <a:spcPct val="0"/>
              </a:spcAft>
              <a:buFont typeface="Wingdings" panose="05000000000000000000" pitchFamily="2" charset="2"/>
              <a:buChar char="ü"/>
            </a:pPr>
            <a:r>
              <a:rPr lang="en-US" altLang="en-US" sz="2000" dirty="0">
                <a:latin typeface="Lato" panose="020F0502020204030203" pitchFamily="34" charset="0"/>
                <a:ea typeface="Lato" panose="020F0502020204030203" pitchFamily="34" charset="0"/>
                <a:cs typeface="Lato" panose="020F0502020204030203" pitchFamily="34" charset="0"/>
              </a:rPr>
              <a:t>Identify key factors driving customer churn</a:t>
            </a:r>
          </a:p>
          <a:p>
            <a:pPr marL="342900" lvl="0" indent="-342900" eaLnBrk="0" fontAlgn="base" hangingPunct="0">
              <a:lnSpc>
                <a:spcPct val="150000"/>
              </a:lnSpc>
              <a:spcBef>
                <a:spcPct val="0"/>
              </a:spcBef>
              <a:spcAft>
                <a:spcPct val="0"/>
              </a:spcAft>
              <a:buFont typeface="Wingdings" panose="05000000000000000000" pitchFamily="2" charset="2"/>
              <a:buChar char="ü"/>
            </a:pPr>
            <a:r>
              <a:rPr lang="en-US" altLang="en-US" sz="2000" dirty="0">
                <a:latin typeface="Lato" panose="020F0502020204030203" pitchFamily="34" charset="0"/>
                <a:ea typeface="Lato" panose="020F0502020204030203" pitchFamily="34" charset="0"/>
                <a:cs typeface="Lato" panose="020F0502020204030203" pitchFamily="34" charset="0"/>
              </a:rPr>
              <a:t>Detect at-risk customers early</a:t>
            </a:r>
          </a:p>
          <a:p>
            <a:pPr marL="342900" lvl="0" indent="-342900" eaLnBrk="0" fontAlgn="base" hangingPunct="0">
              <a:lnSpc>
                <a:spcPct val="150000"/>
              </a:lnSpc>
              <a:spcBef>
                <a:spcPct val="0"/>
              </a:spcBef>
              <a:spcAft>
                <a:spcPct val="0"/>
              </a:spcAft>
              <a:buFont typeface="Wingdings" panose="05000000000000000000" pitchFamily="2" charset="2"/>
              <a:buChar char="ü"/>
            </a:pPr>
            <a:r>
              <a:rPr lang="en-US" altLang="en-US" sz="2000" dirty="0">
                <a:latin typeface="Lato" panose="020F0502020204030203" pitchFamily="34" charset="0"/>
                <a:ea typeface="Lato" panose="020F0502020204030203" pitchFamily="34" charset="0"/>
                <a:cs typeface="Lato" panose="020F0502020204030203" pitchFamily="34" charset="0"/>
              </a:rPr>
              <a:t>Improve service delivery and customer experience</a:t>
            </a:r>
          </a:p>
          <a:p>
            <a:pPr marL="342900" lvl="0" indent="-342900" eaLnBrk="0" fontAlgn="base" hangingPunct="0">
              <a:lnSpc>
                <a:spcPct val="150000"/>
              </a:lnSpc>
              <a:spcBef>
                <a:spcPct val="0"/>
              </a:spcBef>
              <a:spcAft>
                <a:spcPct val="0"/>
              </a:spcAft>
              <a:buFont typeface="Wingdings" panose="05000000000000000000" pitchFamily="2" charset="2"/>
              <a:buChar char="ü"/>
            </a:pPr>
            <a:r>
              <a:rPr lang="en-US" altLang="en-US" sz="2000" dirty="0">
                <a:latin typeface="Lato" panose="020F0502020204030203" pitchFamily="34" charset="0"/>
                <a:ea typeface="Lato" panose="020F0502020204030203" pitchFamily="34" charset="0"/>
                <a:cs typeface="Lato" panose="020F0502020204030203" pitchFamily="34" charset="0"/>
              </a:rPr>
              <a:t>Develop data-driven retention strategies</a:t>
            </a:r>
          </a:p>
          <a:p>
            <a:pPr>
              <a:lnSpc>
                <a:spcPct val="150000"/>
              </a:lnSpc>
              <a:spcAft>
                <a:spcPts val="1200"/>
              </a:spcAft>
            </a:pPr>
            <a:endParaRPr lang="en-US" sz="2000" dirty="0">
              <a:latin typeface="Lato" panose="020F0502020204030203" pitchFamily="34" charset="0"/>
              <a:ea typeface="Lato" panose="020F0502020204030203" pitchFamily="34" charset="0"/>
              <a:cs typeface="Lato" panose="020F0502020204030203" pitchFamily="34" charset="0"/>
            </a:endParaRPr>
          </a:p>
        </p:txBody>
      </p:sp>
      <p:pic>
        <p:nvPicPr>
          <p:cNvPr id="8" name="Picture 4" descr="Achieve Company Goals with Daily Activity Alignment">
            <a:extLst>
              <a:ext uri="{FF2B5EF4-FFF2-40B4-BE49-F238E27FC236}">
                <a16:creationId xmlns:a16="http://schemas.microsoft.com/office/drawing/2014/main" id="{2E9DE822-CADF-C824-4D52-5279D90EE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779" y="1249588"/>
            <a:ext cx="3772913" cy="355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114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74C7A140-9F09-4E96-A007-30DE63CF7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D20393-1927-CD52-8B88-312C54D1E3B3}"/>
              </a:ext>
            </a:extLst>
          </p:cNvPr>
          <p:cNvSpPr txBox="1"/>
          <p:nvPr/>
        </p:nvSpPr>
        <p:spPr>
          <a:xfrm>
            <a:off x="5872265" y="157876"/>
            <a:ext cx="6094378" cy="707886"/>
          </a:xfrm>
          <a:prstGeom prst="rect">
            <a:avLst/>
          </a:prstGeom>
          <a:noFill/>
        </p:spPr>
        <p:txBody>
          <a:bodyPr wrap="square">
            <a:spAutoFit/>
          </a:bodyPr>
          <a:lstStyle/>
          <a:p>
            <a:pPr algn="ctr" rtl="0">
              <a:buNone/>
            </a:pPr>
            <a:r>
              <a:rPr lang="en-US" sz="4000" b="0" i="0" u="none" strike="noStrike" dirty="0">
                <a:effectLst/>
                <a:latin typeface="Britannic Bold" panose="020B0903060703020204" pitchFamily="34" charset="0"/>
                <a:ea typeface="Lato" panose="020F0502020204030203" pitchFamily="34" charset="0"/>
                <a:cs typeface="Lato" panose="020F0502020204030203" pitchFamily="34" charset="0"/>
              </a:rPr>
              <a:t>Database Schema </a:t>
            </a:r>
            <a:endParaRPr lang="en-US" sz="4000" dirty="0">
              <a:latin typeface="Britannic Bold" panose="020B0903060703020204" pitchFamily="34" charset="0"/>
              <a:ea typeface="Lato" panose="020F0502020204030203" pitchFamily="34" charset="0"/>
              <a:cs typeface="Lato" panose="020F0502020204030203" pitchFamily="34" charset="0"/>
            </a:endParaRPr>
          </a:p>
        </p:txBody>
      </p:sp>
      <p:pic>
        <p:nvPicPr>
          <p:cNvPr id="9" name="Picture 8">
            <a:extLst>
              <a:ext uri="{FF2B5EF4-FFF2-40B4-BE49-F238E27FC236}">
                <a16:creationId xmlns:a16="http://schemas.microsoft.com/office/drawing/2014/main" id="{BA94D35E-15CE-B580-E5F4-2024F90991FA}"/>
              </a:ext>
            </a:extLst>
          </p:cNvPr>
          <p:cNvPicPr>
            <a:picLocks noChangeAspect="1"/>
          </p:cNvPicPr>
          <p:nvPr/>
        </p:nvPicPr>
        <p:blipFill>
          <a:blip r:embed="rId3"/>
          <a:srcRect l="4627" t="18724" r="4414" b="11111"/>
          <a:stretch>
            <a:fillRect/>
          </a:stretch>
        </p:blipFill>
        <p:spPr>
          <a:xfrm>
            <a:off x="564204" y="1284050"/>
            <a:ext cx="11089532" cy="4811949"/>
          </a:xfrm>
          <a:prstGeom prst="rect">
            <a:avLst/>
          </a:prstGeom>
        </p:spPr>
      </p:pic>
      <p:sp>
        <p:nvSpPr>
          <p:cNvPr id="10" name="Rectangle 9">
            <a:extLst>
              <a:ext uri="{FF2B5EF4-FFF2-40B4-BE49-F238E27FC236}">
                <a16:creationId xmlns:a16="http://schemas.microsoft.com/office/drawing/2014/main" id="{2526D5A1-056D-0907-AF1B-EE126EFBE34A}"/>
              </a:ext>
            </a:extLst>
          </p:cNvPr>
          <p:cNvSpPr/>
          <p:nvPr/>
        </p:nvSpPr>
        <p:spPr>
          <a:xfrm>
            <a:off x="466928" y="1206230"/>
            <a:ext cx="11274356" cy="4961106"/>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564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3ED5957D-9A38-32B3-7A2A-0F1827F9E0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124E84F-2D8C-F33E-4BD0-CCA9069A7EFD}"/>
              </a:ext>
            </a:extLst>
          </p:cNvPr>
          <p:cNvSpPr txBox="1"/>
          <p:nvPr/>
        </p:nvSpPr>
        <p:spPr>
          <a:xfrm>
            <a:off x="547179" y="199975"/>
            <a:ext cx="5548821" cy="6586418"/>
          </a:xfrm>
          <a:prstGeom prst="rect">
            <a:avLst/>
          </a:prstGeom>
          <a:noFill/>
        </p:spPr>
        <p:txBody>
          <a:bodyPr wrap="square">
            <a:spAutoFit/>
          </a:bodyPr>
          <a:lstStyle/>
          <a:p>
            <a:pPr rtl="0">
              <a:buNone/>
            </a:pPr>
            <a:r>
              <a:rPr lang="en-US" sz="4000" dirty="0">
                <a:latin typeface="Britannic Bold" panose="020B0903060703020204" pitchFamily="34" charset="0"/>
                <a:ea typeface="Lato" panose="020F0502020204030203" pitchFamily="34" charset="0"/>
                <a:cs typeface="Lato" panose="020F0502020204030203" pitchFamily="34" charset="0"/>
              </a:rPr>
              <a:t>Data Description </a:t>
            </a:r>
          </a:p>
          <a:p>
            <a:pPr rtl="0">
              <a:buNone/>
            </a:pPr>
            <a:endParaRPr lang="en-US" sz="2400" dirty="0">
              <a:latin typeface="Britannic Bold" panose="020B0903060703020204" pitchFamily="34" charset="0"/>
              <a:ea typeface="Lato" panose="020F0502020204030203" pitchFamily="34" charset="0"/>
              <a:cs typeface="Lato" panose="020F0502020204030203" pitchFamily="34" charset="0"/>
            </a:endParaRPr>
          </a:p>
          <a:p>
            <a:pPr rtl="0">
              <a:spcAft>
                <a:spcPts val="1800"/>
              </a:spcAft>
              <a:buNone/>
            </a:pPr>
            <a:r>
              <a:rPr lang="en-US" sz="2000" dirty="0">
                <a:latin typeface="Lato" panose="020F0502020204030203" pitchFamily="34" charset="0"/>
                <a:ea typeface="Lato" panose="020F0502020204030203" pitchFamily="34" charset="0"/>
                <a:cs typeface="Lato" panose="020F0502020204030203" pitchFamily="34" charset="0"/>
              </a:rPr>
              <a:t>The dataset gives us brief overview of Bank CRM  Customer’s activities.</a:t>
            </a:r>
          </a:p>
          <a:p>
            <a:pPr marL="342900" indent="-342900" rtl="0">
              <a:spcAft>
                <a:spcPts val="18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The dataset consists of 7 relational tables that are connected to each other.</a:t>
            </a:r>
          </a:p>
          <a:p>
            <a:pPr marL="342900" indent="-342900" rtl="0">
              <a:spcAft>
                <a:spcPts val="18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Total Customer is  10k present across 3 different regions Spain,  Germany, France.</a:t>
            </a:r>
          </a:p>
          <a:p>
            <a:pPr marL="342900" indent="-342900">
              <a:spcAft>
                <a:spcPts val="1800"/>
              </a:spcAft>
              <a:buFont typeface="Wingdings" panose="05000000000000000000" pitchFamily="2" charset="2"/>
              <a:buChar char="q"/>
            </a:pPr>
            <a:r>
              <a:rPr lang="en-GB" sz="2000" dirty="0">
                <a:latin typeface="Lato" panose="020F0502020204030203" pitchFamily="34" charset="0"/>
                <a:ea typeface="Lato" panose="020F0502020204030203" pitchFamily="34" charset="0"/>
                <a:cs typeface="Lato" panose="020F0502020204030203" pitchFamily="34" charset="0"/>
                <a:sym typeface="Lato"/>
              </a:rPr>
              <a:t>Credit Score: A numerical representation of the customer's creditworthiness.</a:t>
            </a:r>
          </a:p>
          <a:p>
            <a:pPr marL="342900" indent="-342900">
              <a:spcAft>
                <a:spcPts val="1800"/>
              </a:spcAft>
              <a:buFont typeface="Wingdings" panose="05000000000000000000" pitchFamily="2" charset="2"/>
              <a:buChar char="q"/>
            </a:pPr>
            <a:r>
              <a:rPr lang="en-GB" sz="2000" dirty="0">
                <a:latin typeface="Lato" panose="020F0502020204030203" pitchFamily="34" charset="0"/>
                <a:ea typeface="Lato" panose="020F0502020204030203" pitchFamily="34" charset="0"/>
                <a:cs typeface="Lato" panose="020F0502020204030203" pitchFamily="34" charset="0"/>
                <a:sym typeface="Lato"/>
              </a:rPr>
              <a:t>Tenure: The number of years the customer has been with the bank. </a:t>
            </a:r>
          </a:p>
          <a:p>
            <a:pPr marL="342900" indent="-342900">
              <a:spcAft>
                <a:spcPts val="1800"/>
              </a:spcAft>
              <a:buFont typeface="Wingdings" panose="05000000000000000000" pitchFamily="2" charset="2"/>
              <a:buChar char="q"/>
            </a:pPr>
            <a:r>
              <a:rPr lang="en-GB" sz="2000" dirty="0">
                <a:latin typeface="Lato" panose="020F0502020204030203" pitchFamily="34" charset="0"/>
                <a:ea typeface="Lato" panose="020F0502020204030203" pitchFamily="34" charset="0"/>
                <a:cs typeface="Lato" panose="020F0502020204030203" pitchFamily="34" charset="0"/>
                <a:sym typeface="Lato"/>
              </a:rPr>
              <a:t>Exited: whether or not the customer left the bank.</a:t>
            </a:r>
          </a:p>
          <a:p>
            <a:pPr marL="342900" indent="-342900" rtl="0">
              <a:spcAft>
                <a:spcPts val="1800"/>
              </a:spcAft>
              <a:buFont typeface="Wingdings" panose="05000000000000000000" pitchFamily="2" charset="2"/>
              <a:buChar char="q"/>
            </a:pPr>
            <a:endParaRPr lang="en-US" sz="2000" dirty="0">
              <a:latin typeface="Lato" panose="020F0502020204030203" pitchFamily="34" charset="0"/>
              <a:ea typeface="Lato" panose="020F0502020204030203" pitchFamily="34" charset="0"/>
              <a:cs typeface="Lato" panose="020F0502020204030203" pitchFamily="34" charset="0"/>
            </a:endParaRPr>
          </a:p>
        </p:txBody>
      </p:sp>
      <p:sp>
        <p:nvSpPr>
          <p:cNvPr id="6" name="AutoShape 2" descr="CRM in Banking: Top Implementation Challenges and Solutions">
            <a:extLst>
              <a:ext uri="{FF2B5EF4-FFF2-40B4-BE49-F238E27FC236}">
                <a16:creationId xmlns:a16="http://schemas.microsoft.com/office/drawing/2014/main" id="{9E63D1EF-1865-95F0-176C-20E0EF104B28}"/>
              </a:ext>
            </a:extLst>
          </p:cNvPr>
          <p:cNvSpPr>
            <a:spLocks noChangeAspect="1" noChangeArrowheads="1"/>
          </p:cNvSpPr>
          <p:nvPr/>
        </p:nvSpPr>
        <p:spPr bwMode="auto">
          <a:xfrm>
            <a:off x="5943600" y="3276600"/>
            <a:ext cx="3326860" cy="33268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4" name="Picture 6" descr="Customer profiles in Banking CRM: Why updates matter">
            <a:extLst>
              <a:ext uri="{FF2B5EF4-FFF2-40B4-BE49-F238E27FC236}">
                <a16:creationId xmlns:a16="http://schemas.microsoft.com/office/drawing/2014/main" id="{3E44FB99-5DF6-97C4-D6BC-81A71C3C8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177" y="1397684"/>
            <a:ext cx="5548821"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55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EDA3EAEA-C818-CF14-AE6D-67442C88E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BFD54E1-FD65-E042-3774-D6AA60DCE04F}"/>
              </a:ext>
            </a:extLst>
          </p:cNvPr>
          <p:cNvSpPr txBox="1"/>
          <p:nvPr/>
        </p:nvSpPr>
        <p:spPr>
          <a:xfrm>
            <a:off x="603116" y="635910"/>
            <a:ext cx="3251244" cy="707886"/>
          </a:xfrm>
          <a:prstGeom prst="rect">
            <a:avLst/>
          </a:prstGeom>
          <a:noFill/>
        </p:spPr>
        <p:txBody>
          <a:bodyPr wrap="square">
            <a:spAutoFit/>
          </a:bodyPr>
          <a:lstStyle/>
          <a:p>
            <a:pPr algn="r" rtl="0">
              <a:buNone/>
            </a:pPr>
            <a:r>
              <a:rPr lang="en-US" sz="4000" b="0" i="0" u="none" strike="noStrike" dirty="0">
                <a:effectLst/>
                <a:latin typeface="Britannic Bold" panose="020B0903060703020204" pitchFamily="34" charset="0"/>
              </a:rPr>
              <a:t>Methodology</a:t>
            </a:r>
          </a:p>
        </p:txBody>
      </p:sp>
      <p:graphicFrame>
        <p:nvGraphicFramePr>
          <p:cNvPr id="6" name="Diagram 5">
            <a:extLst>
              <a:ext uri="{FF2B5EF4-FFF2-40B4-BE49-F238E27FC236}">
                <a16:creationId xmlns:a16="http://schemas.microsoft.com/office/drawing/2014/main" id="{B4A08B5C-0163-C9FF-DC16-B398756BCC2F}"/>
              </a:ext>
            </a:extLst>
          </p:cNvPr>
          <p:cNvGraphicFramePr/>
          <p:nvPr>
            <p:extLst>
              <p:ext uri="{D42A27DB-BD31-4B8C-83A1-F6EECF244321}">
                <p14:modId xmlns:p14="http://schemas.microsoft.com/office/powerpoint/2010/main" val="3489093669"/>
              </p:ext>
            </p:extLst>
          </p:nvPr>
        </p:nvGraphicFramePr>
        <p:xfrm>
          <a:off x="871695" y="1568522"/>
          <a:ext cx="3962952" cy="4523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728AE63A-0D97-103C-430F-29A2224833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0485" y="1752779"/>
            <a:ext cx="5664831" cy="3659411"/>
          </a:xfrm>
          <a:prstGeom prst="rect">
            <a:avLst/>
          </a:prstGeom>
        </p:spPr>
      </p:pic>
    </p:spTree>
    <p:extLst>
      <p:ext uri="{BB962C8B-B14F-4D97-AF65-F5344CB8AC3E}">
        <p14:creationId xmlns:p14="http://schemas.microsoft.com/office/powerpoint/2010/main" val="843789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08BC751C-4A2C-AADC-A409-DE7DBD9FE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77C6070-6F63-17BB-2A0D-25A628D02EE3}"/>
              </a:ext>
            </a:extLst>
          </p:cNvPr>
          <p:cNvPicPr>
            <a:picLocks noChangeAspect="1"/>
          </p:cNvPicPr>
          <p:nvPr/>
        </p:nvPicPr>
        <p:blipFill>
          <a:blip r:embed="rId3"/>
          <a:srcRect l="3112" t="30497" r="50931" b="22979"/>
          <a:stretch>
            <a:fillRect/>
          </a:stretch>
        </p:blipFill>
        <p:spPr>
          <a:xfrm>
            <a:off x="5826866" y="1001948"/>
            <a:ext cx="5893539" cy="3356043"/>
          </a:xfrm>
          <a:prstGeom prst="rect">
            <a:avLst/>
          </a:prstGeom>
          <a:effectLst/>
        </p:spPr>
      </p:pic>
      <p:sp>
        <p:nvSpPr>
          <p:cNvPr id="7" name="TextBox 6">
            <a:extLst>
              <a:ext uri="{FF2B5EF4-FFF2-40B4-BE49-F238E27FC236}">
                <a16:creationId xmlns:a16="http://schemas.microsoft.com/office/drawing/2014/main" id="{AEE2BAA0-F830-5071-5C50-78DCEB04142A}"/>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C4399DEB-3789-F5C8-FDB1-1C5FE4231485}"/>
              </a:ext>
            </a:extLst>
          </p:cNvPr>
          <p:cNvSpPr txBox="1"/>
          <p:nvPr/>
        </p:nvSpPr>
        <p:spPr>
          <a:xfrm>
            <a:off x="398834" y="576839"/>
            <a:ext cx="5223753" cy="5493812"/>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342900" lvl="0" indent="-342900" fontAlgn="base">
              <a:spcBef>
                <a:spcPct val="0"/>
              </a:spcBef>
              <a:spcAft>
                <a:spcPts val="600"/>
              </a:spcAft>
              <a:buFont typeface="Wingdings" panose="05000000000000000000" pitchFamily="2" charset="2"/>
              <a:buChar char="q"/>
            </a:pPr>
            <a:r>
              <a:rPr lang="en-US" altLang="en-US" sz="2000" b="1" dirty="0">
                <a:latin typeface="Lato" panose="020F0502020204030203" pitchFamily="34" charset="0"/>
                <a:ea typeface="Lato" panose="020F0502020204030203" pitchFamily="34" charset="0"/>
                <a:cs typeface="Lato" panose="020F0502020204030203" pitchFamily="34" charset="0"/>
              </a:rPr>
              <a:t>Consistent Increase in Churn</a:t>
            </a:r>
            <a:br>
              <a:rPr lang="en-US" altLang="en-US" sz="2000" b="1" dirty="0">
                <a:latin typeface="Lato" panose="020F0502020204030203" pitchFamily="34" charset="0"/>
                <a:ea typeface="Lato" panose="020F0502020204030203" pitchFamily="34" charset="0"/>
                <a:cs typeface="Lato" panose="020F0502020204030203" pitchFamily="34" charset="0"/>
              </a:rPr>
            </a:br>
            <a:r>
              <a:rPr lang="en-US" altLang="en-US" sz="2000" dirty="0">
                <a:latin typeface="Lato" panose="020F0502020204030203" pitchFamily="34" charset="0"/>
                <a:ea typeface="Lato" panose="020F0502020204030203" pitchFamily="34" charset="0"/>
                <a:cs typeface="Lato" panose="020F0502020204030203" pitchFamily="34" charset="0"/>
              </a:rPr>
              <a:t>Customer churn rises every year:</a:t>
            </a:r>
            <a:br>
              <a:rPr lang="en-US" altLang="en-US" sz="2000" dirty="0">
                <a:latin typeface="Lato" panose="020F0502020204030203" pitchFamily="34" charset="0"/>
                <a:ea typeface="Lato" panose="020F0502020204030203" pitchFamily="34" charset="0"/>
                <a:cs typeface="Lato" panose="020F0502020204030203" pitchFamily="34" charset="0"/>
              </a:rPr>
            </a:br>
            <a:r>
              <a:rPr lang="en-US" altLang="en-US" sz="2000" dirty="0">
                <a:latin typeface="Lato" panose="020F0502020204030203" pitchFamily="34" charset="0"/>
                <a:ea typeface="Lato" panose="020F0502020204030203" pitchFamily="34" charset="0"/>
                <a:cs typeface="Lato" panose="020F0502020204030203" pitchFamily="34" charset="0"/>
              </a:rPr>
              <a:t>376 (2016) → 479 (2017) → 524 (2018) → 658 (2019)</a:t>
            </a:r>
          </a:p>
          <a:p>
            <a:pPr marL="342900" lvl="0" indent="-342900" fontAlgn="base">
              <a:spcBef>
                <a:spcPct val="0"/>
              </a:spcBef>
              <a:spcAft>
                <a:spcPts val="600"/>
              </a:spcAft>
              <a:buFont typeface="Wingdings" panose="05000000000000000000" pitchFamily="2" charset="2"/>
              <a:buChar char="q"/>
            </a:pPr>
            <a:r>
              <a:rPr lang="en-US" altLang="en-US" sz="2000" b="1" dirty="0">
                <a:latin typeface="Lato" panose="020F0502020204030203" pitchFamily="34" charset="0"/>
                <a:ea typeface="Lato" panose="020F0502020204030203" pitchFamily="34" charset="0"/>
                <a:cs typeface="Lato" panose="020F0502020204030203" pitchFamily="34" charset="0"/>
              </a:rPr>
              <a:t>Sharp Growth in 2019</a:t>
            </a:r>
            <a:br>
              <a:rPr lang="en-US" altLang="en-US" sz="2000" b="1" dirty="0">
                <a:latin typeface="Lato" panose="020F0502020204030203" pitchFamily="34" charset="0"/>
                <a:ea typeface="Lato" panose="020F0502020204030203" pitchFamily="34" charset="0"/>
                <a:cs typeface="Lato" panose="020F0502020204030203" pitchFamily="34" charset="0"/>
              </a:rPr>
            </a:br>
            <a:r>
              <a:rPr lang="en-US" altLang="en-US" sz="2000" dirty="0">
                <a:latin typeface="Lato" panose="020F0502020204030203" pitchFamily="34" charset="0"/>
                <a:ea typeface="Lato" panose="020F0502020204030203" pitchFamily="34" charset="0"/>
                <a:cs typeface="Lato" panose="020F0502020204030203" pitchFamily="34" charset="0"/>
              </a:rPr>
              <a:t>The biggest jump occurs between 2018 and 2019 (+134 customers), indicating a potential service, pricing, or competitive issue.</a:t>
            </a:r>
          </a:p>
          <a:p>
            <a:pPr marL="342900" lvl="0" indent="-342900" fontAlgn="base">
              <a:spcBef>
                <a:spcPct val="0"/>
              </a:spcBef>
              <a:spcAft>
                <a:spcPts val="6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Overall Growth Trend</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Churn increased by ~75% over four years (376 → 658), signaling a growing retention problem.</a:t>
            </a:r>
            <a:endParaRPr lang="en-US" altLang="en-US" sz="2000" dirty="0">
              <a:latin typeface="Lato" panose="020F0502020204030203" pitchFamily="34" charset="0"/>
              <a:ea typeface="Lato" panose="020F0502020204030203" pitchFamily="34" charset="0"/>
              <a:cs typeface="Lato" panose="020F0502020204030203" pitchFamily="34" charset="0"/>
            </a:endParaRPr>
          </a:p>
          <a:p>
            <a:pPr algn="ctr" rtl="0">
              <a:buNone/>
            </a:pPr>
            <a:endParaRPr lang="en-US" sz="2000" b="0" i="0" u="none" strike="noStrike" dirty="0">
              <a:effectLst/>
              <a:latin typeface="Britannic Bold" panose="020B0903060703020204" pitchFamily="34" charset="0"/>
            </a:endParaRPr>
          </a:p>
          <a:p>
            <a:pPr algn="ctr" rtl="0">
              <a:buNone/>
            </a:pPr>
            <a:endParaRPr lang="en-US" sz="2000" b="0" i="0" u="none" strike="noStrike" dirty="0">
              <a:effectLst/>
              <a:latin typeface="Britannic Bold" panose="020B0903060703020204" pitchFamily="34" charset="0"/>
            </a:endParaRPr>
          </a:p>
        </p:txBody>
      </p:sp>
      <p:sp>
        <p:nvSpPr>
          <p:cNvPr id="9" name="Google Shape;185;p8">
            <a:extLst>
              <a:ext uri="{FF2B5EF4-FFF2-40B4-BE49-F238E27FC236}">
                <a16:creationId xmlns:a16="http://schemas.microsoft.com/office/drawing/2014/main" id="{DB41CE47-1779-5F8A-D1EE-7061BB4E525B}"/>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spTree>
    <p:extLst>
      <p:ext uri="{BB962C8B-B14F-4D97-AF65-F5344CB8AC3E}">
        <p14:creationId xmlns:p14="http://schemas.microsoft.com/office/powerpoint/2010/main" val="232535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3FD4-446D-1003-D612-0D08094B003A}"/>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A19CDC47-D751-45F4-D06B-7CAC4969B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179A4B0-425B-A708-8C36-A388C82BAA81}"/>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95B297A6-0E09-8A5D-0BBF-E37A1D679964}"/>
              </a:ext>
            </a:extLst>
          </p:cNvPr>
          <p:cNvSpPr txBox="1"/>
          <p:nvPr/>
        </p:nvSpPr>
        <p:spPr>
          <a:xfrm>
            <a:off x="398834" y="576839"/>
            <a:ext cx="5223753" cy="4955203"/>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Customer Base Expansion</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The average monthly customer count increases year over year, showing consistent business expansion.</a:t>
            </a:r>
          </a:p>
          <a:p>
            <a:pPr marL="342900" lvl="0" indent="-342900" fontAlgn="base">
              <a:spcBef>
                <a:spcPct val="0"/>
              </a:spcBef>
              <a:spcAft>
                <a:spcPts val="6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Higher Monthly Peaks Each Year</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Peak values rise annually (≈0.31K → 0.33K → 0.47K), indicating stronger acquisition performance over time.</a:t>
            </a:r>
          </a:p>
          <a:p>
            <a:pPr marL="342900" indent="-342900" fontAlgn="base">
              <a:spcBef>
                <a:spcPct val="0"/>
              </a:spcBef>
              <a:spcAft>
                <a:spcPts val="6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Recurring Monthly Dips</a:t>
            </a:r>
            <a:br>
              <a:rPr lang="en-US" sz="2000" b="1"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Noticeable drops each year may reflect seasonal slowdowns, reduced marketing activity, or higher churn periods.</a:t>
            </a:r>
          </a:p>
          <a:p>
            <a:pPr algn="ctr" rtl="0">
              <a:buNone/>
            </a:pPr>
            <a:endParaRPr lang="en-US" sz="2000" b="0" i="0" u="none" strike="noStrike" dirty="0">
              <a:effectLst/>
              <a:latin typeface="Britannic Bold" panose="020B0903060703020204" pitchFamily="34" charset="0"/>
            </a:endParaRPr>
          </a:p>
        </p:txBody>
      </p:sp>
      <p:sp>
        <p:nvSpPr>
          <p:cNvPr id="9" name="Google Shape;185;p8">
            <a:extLst>
              <a:ext uri="{FF2B5EF4-FFF2-40B4-BE49-F238E27FC236}">
                <a16:creationId xmlns:a16="http://schemas.microsoft.com/office/drawing/2014/main" id="{E037FC87-75AA-935A-FCBB-AD3C0084D940}"/>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10" name="Picture 9">
            <a:extLst>
              <a:ext uri="{FF2B5EF4-FFF2-40B4-BE49-F238E27FC236}">
                <a16:creationId xmlns:a16="http://schemas.microsoft.com/office/drawing/2014/main" id="{6E86A26F-7481-BAE1-82AA-A73EC8C18B55}"/>
              </a:ext>
            </a:extLst>
          </p:cNvPr>
          <p:cNvPicPr>
            <a:picLocks noChangeAspect="1"/>
          </p:cNvPicPr>
          <p:nvPr/>
        </p:nvPicPr>
        <p:blipFill>
          <a:blip r:embed="rId3"/>
          <a:srcRect l="29202" t="19892" r="18537" b="16028"/>
          <a:stretch>
            <a:fillRect/>
          </a:stretch>
        </p:blipFill>
        <p:spPr>
          <a:xfrm>
            <a:off x="5933872" y="984810"/>
            <a:ext cx="5758775" cy="3421820"/>
          </a:xfrm>
          <a:prstGeom prst="rect">
            <a:avLst/>
          </a:prstGeom>
        </p:spPr>
      </p:pic>
    </p:spTree>
    <p:extLst>
      <p:ext uri="{BB962C8B-B14F-4D97-AF65-F5344CB8AC3E}">
        <p14:creationId xmlns:p14="http://schemas.microsoft.com/office/powerpoint/2010/main" val="2547998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B144E-E761-3903-9BB2-A6703BED1656}"/>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822B816E-8CAF-AFD2-742E-0FE79AB49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B79659E-758C-3D51-8E76-CE502F6FD99F}"/>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510404BC-BCCB-5373-7906-9B8711B0D23E}"/>
              </a:ext>
            </a:extLst>
          </p:cNvPr>
          <p:cNvSpPr txBox="1"/>
          <p:nvPr/>
        </p:nvSpPr>
        <p:spPr>
          <a:xfrm>
            <a:off x="551234" y="1227580"/>
            <a:ext cx="5544766" cy="4339650"/>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Mid Term </a:t>
            </a:r>
            <a:r>
              <a:rPr lang="en-US" sz="2000" dirty="0">
                <a:latin typeface="Lato" panose="020F0502020204030203" pitchFamily="34" charset="0"/>
                <a:ea typeface="Lato" panose="020F0502020204030203" pitchFamily="34" charset="0"/>
                <a:cs typeface="Lato" panose="020F0502020204030203" pitchFamily="34" charset="0"/>
              </a:rPr>
              <a:t>(5.5K) customers form the largest group</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Long-term</a:t>
            </a:r>
            <a:r>
              <a:rPr lang="en-US" sz="2000" dirty="0">
                <a:latin typeface="Lato" panose="020F0502020204030203" pitchFamily="34" charset="0"/>
                <a:ea typeface="Lato" panose="020F0502020204030203" pitchFamily="34" charset="0"/>
                <a:cs typeface="Lato" panose="020F0502020204030203" pitchFamily="34" charset="0"/>
              </a:rPr>
              <a:t> customers (3.2K) are fewer, showing some drop-off after mid tenure.</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New customers </a:t>
            </a:r>
            <a:r>
              <a:rPr lang="en-US" sz="2000" dirty="0">
                <a:latin typeface="Lato" panose="020F0502020204030203" pitchFamily="34" charset="0"/>
                <a:ea typeface="Lato" panose="020F0502020204030203" pitchFamily="34" charset="0"/>
                <a:cs typeface="Lato" panose="020F0502020204030203" pitchFamily="34" charset="0"/>
              </a:rPr>
              <a:t>(1.3K) are the lowest, indicating lower acquisition.</a:t>
            </a:r>
          </a:p>
          <a:p>
            <a:pPr marL="342900" indent="-342900" fontAlgn="base">
              <a:spcBef>
                <a:spcPct val="0"/>
              </a:spcBef>
              <a:spcAft>
                <a:spcPts val="1200"/>
              </a:spcAft>
              <a:buFont typeface="Wingdings" panose="05000000000000000000" pitchFamily="2" charset="2"/>
              <a:buChar char="q"/>
            </a:pPr>
            <a:endParaRPr lang="en-US" sz="2000" dirty="0">
              <a:latin typeface="Lato" panose="020F0502020204030203" pitchFamily="34" charset="0"/>
              <a:ea typeface="Lato" panose="020F0502020204030203" pitchFamily="34" charset="0"/>
              <a:cs typeface="Lato" panose="020F0502020204030203" pitchFamily="34" charset="0"/>
            </a:endParaRPr>
          </a:p>
          <a:p>
            <a:pPr marL="342900" indent="-342900" fontAlgn="base">
              <a:spcBef>
                <a:spcPct val="0"/>
              </a:spcBef>
              <a:spcAft>
                <a:spcPts val="1200"/>
              </a:spcAft>
              <a:buFont typeface="Wingdings" panose="05000000000000000000" pitchFamily="2" charset="2"/>
              <a:buChar char="q"/>
            </a:pPr>
            <a:r>
              <a:rPr lang="en-US" sz="2000" dirty="0"/>
              <a:t>Focus on converting mid-term customers to long-term and improve new customer acquisition.</a:t>
            </a:r>
            <a:endParaRPr lang="en-US" sz="2000" dirty="0">
              <a:latin typeface="Lato" panose="020F0502020204030203" pitchFamily="34" charset="0"/>
              <a:ea typeface="Lato" panose="020F0502020204030203" pitchFamily="34" charset="0"/>
              <a:cs typeface="Lato" panose="020F0502020204030203" pitchFamily="34" charset="0"/>
            </a:endParaRPr>
          </a:p>
        </p:txBody>
      </p:sp>
      <p:sp>
        <p:nvSpPr>
          <p:cNvPr id="9" name="Google Shape;185;p8">
            <a:extLst>
              <a:ext uri="{FF2B5EF4-FFF2-40B4-BE49-F238E27FC236}">
                <a16:creationId xmlns:a16="http://schemas.microsoft.com/office/drawing/2014/main" id="{F1E91732-379A-ED74-538F-1A6BC2C6D07D}"/>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862D925B-2138-C1A3-5E2F-9452937BE3B4}"/>
              </a:ext>
            </a:extLst>
          </p:cNvPr>
          <p:cNvPicPr>
            <a:picLocks noChangeAspect="1"/>
          </p:cNvPicPr>
          <p:nvPr/>
        </p:nvPicPr>
        <p:blipFill>
          <a:blip r:embed="rId3"/>
          <a:srcRect l="39894" t="20425" r="7048" b="16454"/>
          <a:stretch>
            <a:fillRect/>
          </a:stretch>
        </p:blipFill>
        <p:spPr>
          <a:xfrm>
            <a:off x="6371848" y="973949"/>
            <a:ext cx="5421318" cy="3308030"/>
          </a:xfrm>
          <a:prstGeom prst="rect">
            <a:avLst/>
          </a:prstGeom>
        </p:spPr>
      </p:pic>
    </p:spTree>
    <p:extLst>
      <p:ext uri="{BB962C8B-B14F-4D97-AF65-F5344CB8AC3E}">
        <p14:creationId xmlns:p14="http://schemas.microsoft.com/office/powerpoint/2010/main" val="255102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30B3-CEC1-BF93-CA6C-52A7E74857F3}"/>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166929F-C9C8-7F3F-4317-D95D38BB9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22A51BA-9E4D-51E2-96CE-722629F7FE5B}"/>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7B023AF1-D044-DD52-3D6C-7D82B4B2254F}"/>
              </a:ext>
            </a:extLst>
          </p:cNvPr>
          <p:cNvSpPr txBox="1"/>
          <p:nvPr/>
        </p:nvSpPr>
        <p:spPr>
          <a:xfrm>
            <a:off x="381001" y="766117"/>
            <a:ext cx="5817135" cy="4955203"/>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France has the highest number of Low Balance customers (2.5K)</a:t>
            </a:r>
            <a:br>
              <a:rPr lang="en-US" sz="2000" dirty="0"/>
            </a:br>
            <a:r>
              <a:rPr lang="en-US" sz="2000" dirty="0">
                <a:latin typeface="Lato" panose="020F0502020204030203" pitchFamily="34" charset="0"/>
                <a:ea typeface="Lato" panose="020F0502020204030203" pitchFamily="34" charset="0"/>
                <a:cs typeface="Lato" panose="020F0502020204030203" pitchFamily="34" charset="0"/>
              </a:rPr>
              <a:t>Indicates many customers maintain smaller balances. Opportunity to upsell savings/investment products.</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Germany has the highest Moderate Balance customers (2.2K)</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Majority customers fall in mid-range balance.</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Strong potential to convert Moderate to High balance segment.</a:t>
            </a:r>
          </a:p>
          <a:p>
            <a:pPr marL="3429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High Balance customers are lowest in all countries </a:t>
            </a:r>
            <a:r>
              <a:rPr lang="en-US" sz="2000" dirty="0">
                <a:latin typeface="Lato" panose="020F0502020204030203" pitchFamily="34" charset="0"/>
                <a:ea typeface="Lato" panose="020F0502020204030203" pitchFamily="34" charset="0"/>
                <a:cs typeface="Lato" panose="020F0502020204030203" pitchFamily="34" charset="0"/>
              </a:rPr>
              <a:t>France 0.4K, Spain 0.2K, Germany 0.3K.</a:t>
            </a:r>
          </a:p>
        </p:txBody>
      </p:sp>
      <p:sp>
        <p:nvSpPr>
          <p:cNvPr id="9" name="Google Shape;185;p8">
            <a:extLst>
              <a:ext uri="{FF2B5EF4-FFF2-40B4-BE49-F238E27FC236}">
                <a16:creationId xmlns:a16="http://schemas.microsoft.com/office/drawing/2014/main" id="{5B2F0A09-18C5-4ABF-FB26-F4056C2C47C8}"/>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2F6F460A-19D9-CAA5-859C-991770438A45}"/>
              </a:ext>
            </a:extLst>
          </p:cNvPr>
          <p:cNvPicPr>
            <a:picLocks noChangeAspect="1"/>
          </p:cNvPicPr>
          <p:nvPr/>
        </p:nvPicPr>
        <p:blipFill>
          <a:blip r:embed="rId3"/>
          <a:srcRect l="3032" t="41277" r="50931" b="12827"/>
          <a:stretch>
            <a:fillRect/>
          </a:stretch>
        </p:blipFill>
        <p:spPr>
          <a:xfrm>
            <a:off x="6198137" y="1157591"/>
            <a:ext cx="5612861" cy="3147539"/>
          </a:xfrm>
          <a:prstGeom prst="rect">
            <a:avLst/>
          </a:prstGeom>
        </p:spPr>
      </p:pic>
    </p:spTree>
    <p:extLst>
      <p:ext uri="{BB962C8B-B14F-4D97-AF65-F5344CB8AC3E}">
        <p14:creationId xmlns:p14="http://schemas.microsoft.com/office/powerpoint/2010/main" val="3188390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DB8EB-12DE-D3EB-F323-A2FE2A085478}"/>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CB998AE0-AB97-7160-BE24-599A7B4FD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0257CF-738E-43CF-67D2-6DF88A5FC509}"/>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3634960D-D20D-CFF3-B028-DFB1E7F7A4BD}"/>
              </a:ext>
            </a:extLst>
          </p:cNvPr>
          <p:cNvSpPr txBox="1"/>
          <p:nvPr/>
        </p:nvSpPr>
        <p:spPr>
          <a:xfrm>
            <a:off x="381001" y="766117"/>
            <a:ext cx="5817135" cy="4031873"/>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4572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Majority customers are aged 30–50 (69.64% | 7K customers)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Core customer segment of the bank.</a:t>
            </a:r>
          </a:p>
          <a:p>
            <a:pPr marL="4572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Young customers (18–30) make up 16.41% (2K)</a:t>
            </a:r>
            <a:br>
              <a:rPr lang="en-US" sz="2000" b="1"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Growth opportunity through digital &amp; youth-focused products.</a:t>
            </a:r>
          </a:p>
          <a:p>
            <a:pPr marL="457200" indent="-342900">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Senior customers (50+) represent 13.95% (1K)</a:t>
            </a:r>
            <a:br>
              <a:rPr lang="en-US" sz="2000" b="1"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Smaller segment but potential for retirement &amp; investment products.</a:t>
            </a:r>
          </a:p>
        </p:txBody>
      </p:sp>
      <p:sp>
        <p:nvSpPr>
          <p:cNvPr id="9" name="Google Shape;185;p8">
            <a:extLst>
              <a:ext uri="{FF2B5EF4-FFF2-40B4-BE49-F238E27FC236}">
                <a16:creationId xmlns:a16="http://schemas.microsoft.com/office/drawing/2014/main" id="{7C20B400-496B-951E-087D-AADE23E8C382}"/>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5" name="Picture 4">
            <a:extLst>
              <a:ext uri="{FF2B5EF4-FFF2-40B4-BE49-F238E27FC236}">
                <a16:creationId xmlns:a16="http://schemas.microsoft.com/office/drawing/2014/main" id="{22BCBC30-32C4-42D7-7C76-234DBAC16C6D}"/>
              </a:ext>
            </a:extLst>
          </p:cNvPr>
          <p:cNvPicPr>
            <a:picLocks noChangeAspect="1"/>
          </p:cNvPicPr>
          <p:nvPr/>
        </p:nvPicPr>
        <p:blipFill>
          <a:blip r:embed="rId3"/>
          <a:srcRect l="21862" t="41702" r="39681" b="12828"/>
          <a:stretch>
            <a:fillRect/>
          </a:stretch>
        </p:blipFill>
        <p:spPr>
          <a:xfrm>
            <a:off x="6639357" y="992221"/>
            <a:ext cx="4688733" cy="3118355"/>
          </a:xfrm>
          <a:prstGeom prst="rect">
            <a:avLst/>
          </a:prstGeom>
        </p:spPr>
      </p:pic>
    </p:spTree>
    <p:extLst>
      <p:ext uri="{BB962C8B-B14F-4D97-AF65-F5344CB8AC3E}">
        <p14:creationId xmlns:p14="http://schemas.microsoft.com/office/powerpoint/2010/main" val="3791093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E171-28BF-EEB4-E92C-05FC0A1C2C99}"/>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8DB2696-BD84-90DF-C80B-1E099047E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8CADC72-3167-D0D1-4616-EFC1486E14DD}"/>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AD04F82B-3526-926F-7479-5D78A8587C16}"/>
              </a:ext>
            </a:extLst>
          </p:cNvPr>
          <p:cNvSpPr txBox="1"/>
          <p:nvPr/>
        </p:nvSpPr>
        <p:spPr>
          <a:xfrm>
            <a:off x="381001" y="766117"/>
            <a:ext cx="5817135" cy="3954929"/>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457200" indent="-342900" fontAlgn="base">
              <a:spcBef>
                <a:spcPct val="0"/>
              </a:spcBef>
              <a:spcAft>
                <a:spcPts val="18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Majority customers use only 1 product (5.1K)</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Indicates low product penetration.</a:t>
            </a:r>
          </a:p>
          <a:p>
            <a:pPr marL="4572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4.6K customers use 2 products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Good cross-selling success at this level.</a:t>
            </a:r>
          </a:p>
          <a:p>
            <a:pPr marL="457200" indent="-342900" fontAlgn="base">
              <a:spcBef>
                <a:spcPct val="0"/>
              </a:spcBef>
              <a:spcAft>
                <a:spcPts val="1200"/>
              </a:spcAft>
              <a:buFont typeface="Wingdings" panose="05000000000000000000" pitchFamily="2" charset="2"/>
              <a:buChar char="q"/>
            </a:pPr>
            <a:endParaRPr lang="en-US" sz="2000" b="1" dirty="0">
              <a:latin typeface="Lato" panose="020F0502020204030203" pitchFamily="34" charset="0"/>
              <a:ea typeface="Lato" panose="020F0502020204030203" pitchFamily="34" charset="0"/>
              <a:cs typeface="Lato" panose="020F0502020204030203" pitchFamily="34" charset="0"/>
            </a:endParaRPr>
          </a:p>
          <a:p>
            <a:pPr marL="4572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Very few customers use 3 (0.3K) or 4 products (0.1K)</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Strong opportunity to increase multi-product adoption.</a:t>
            </a:r>
          </a:p>
        </p:txBody>
      </p:sp>
      <p:sp>
        <p:nvSpPr>
          <p:cNvPr id="9" name="Google Shape;185;p8">
            <a:extLst>
              <a:ext uri="{FF2B5EF4-FFF2-40B4-BE49-F238E27FC236}">
                <a16:creationId xmlns:a16="http://schemas.microsoft.com/office/drawing/2014/main" id="{66F55DC7-CCCA-6F94-78A5-34072C91B4AF}"/>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1EEA65BB-F8EE-C42A-A535-4ECF7F96FBD2}"/>
              </a:ext>
            </a:extLst>
          </p:cNvPr>
          <p:cNvPicPr>
            <a:picLocks noChangeAspect="1"/>
          </p:cNvPicPr>
          <p:nvPr/>
        </p:nvPicPr>
        <p:blipFill>
          <a:blip r:embed="rId3"/>
          <a:srcRect l="38058" t="35036" r="16702" b="12827"/>
          <a:stretch>
            <a:fillRect/>
          </a:stretch>
        </p:blipFill>
        <p:spPr>
          <a:xfrm>
            <a:off x="6400800" y="914400"/>
            <a:ext cx="5515583" cy="3575555"/>
          </a:xfrm>
          <a:prstGeom prst="rect">
            <a:avLst/>
          </a:prstGeom>
        </p:spPr>
      </p:pic>
    </p:spTree>
    <p:extLst>
      <p:ext uri="{BB962C8B-B14F-4D97-AF65-F5344CB8AC3E}">
        <p14:creationId xmlns:p14="http://schemas.microsoft.com/office/powerpoint/2010/main" val="1321785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6F75A-9128-8CE1-5D4C-CC46AFC032A1}"/>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2CDB79A3-6406-3B0F-AA06-2FF538519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CB8D76-71F4-5D9E-BA38-B30546671B64}"/>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63C7F27D-6430-5B31-EC21-1CAE04BE1D1C}"/>
              </a:ext>
            </a:extLst>
          </p:cNvPr>
          <p:cNvSpPr txBox="1"/>
          <p:nvPr/>
        </p:nvSpPr>
        <p:spPr>
          <a:xfrm>
            <a:off x="381001" y="766117"/>
            <a:ext cx="5817135" cy="4647426"/>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Highest churn comes from age 30–50 </a:t>
            </a:r>
            <a:r>
              <a:rPr lang="en-US" sz="2000" dirty="0">
                <a:latin typeface="Lato" panose="020F0502020204030203" pitchFamily="34" charset="0"/>
                <a:ea typeface="Lato" panose="020F0502020204030203" pitchFamily="34" charset="0"/>
                <a:cs typeface="Lato" panose="020F0502020204030203" pitchFamily="34" charset="0"/>
              </a:rPr>
              <a:t>(62.79% | 1279 customers)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 Core customer segment is also the most at risk.</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50+ customers contribute 31.12% (634 churns)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Significant churn among senior customers.</a:t>
            </a:r>
          </a:p>
          <a:p>
            <a:pPr marL="457200" indent="-342900" fontAlgn="base">
              <a:spcBef>
                <a:spcPct val="0"/>
              </a:spcBef>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Lowest churn is from 18–30 age group (6.09% | 124 churns)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Younger customers are relatively more retained.</a:t>
            </a:r>
          </a:p>
        </p:txBody>
      </p:sp>
      <p:sp>
        <p:nvSpPr>
          <p:cNvPr id="9" name="Google Shape;185;p8">
            <a:extLst>
              <a:ext uri="{FF2B5EF4-FFF2-40B4-BE49-F238E27FC236}">
                <a16:creationId xmlns:a16="http://schemas.microsoft.com/office/drawing/2014/main" id="{2605088A-370C-CC06-C9B0-15AD5506A2CB}"/>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5" name="Picture 4">
            <a:extLst>
              <a:ext uri="{FF2B5EF4-FFF2-40B4-BE49-F238E27FC236}">
                <a16:creationId xmlns:a16="http://schemas.microsoft.com/office/drawing/2014/main" id="{91174AEB-6BAD-E900-A9EB-0450824CCDA9}"/>
              </a:ext>
            </a:extLst>
          </p:cNvPr>
          <p:cNvPicPr>
            <a:picLocks noChangeAspect="1"/>
          </p:cNvPicPr>
          <p:nvPr/>
        </p:nvPicPr>
        <p:blipFill>
          <a:blip r:embed="rId3"/>
          <a:srcRect l="3124" t="19246" r="46703" b="16454"/>
          <a:stretch>
            <a:fillRect/>
          </a:stretch>
        </p:blipFill>
        <p:spPr>
          <a:xfrm>
            <a:off x="6512899" y="1143851"/>
            <a:ext cx="4941650" cy="2803877"/>
          </a:xfrm>
          <a:prstGeom prst="rect">
            <a:avLst/>
          </a:prstGeom>
        </p:spPr>
      </p:pic>
    </p:spTree>
    <p:extLst>
      <p:ext uri="{BB962C8B-B14F-4D97-AF65-F5344CB8AC3E}">
        <p14:creationId xmlns:p14="http://schemas.microsoft.com/office/powerpoint/2010/main" val="186704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D0F8-8A6E-94E3-74AE-E14E9229FAFC}"/>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B20DA40-9C52-C85D-9BBB-7E16D256E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7D3B956-98C2-AFDA-27B3-1ED1AFF36B92}"/>
              </a:ext>
            </a:extLst>
          </p:cNvPr>
          <p:cNvSpPr txBox="1"/>
          <p:nvPr/>
        </p:nvSpPr>
        <p:spPr>
          <a:xfrm>
            <a:off x="3853775" y="107382"/>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CCFDD708-18D8-22A2-489D-429066FEEDE8}"/>
              </a:ext>
            </a:extLst>
          </p:cNvPr>
          <p:cNvSpPr txBox="1"/>
          <p:nvPr/>
        </p:nvSpPr>
        <p:spPr>
          <a:xfrm>
            <a:off x="841445" y="4083927"/>
            <a:ext cx="10121627" cy="2339102"/>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457200" indent="-342900" fontAlgn="base">
              <a:spcBef>
                <a:spcPct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Germany has the highest average salary levels.</a:t>
            </a:r>
          </a:p>
          <a:p>
            <a:pPr marL="457200" indent="-342900" fontAlgn="base">
              <a:spcBef>
                <a:spcPct val="0"/>
              </a:spcBef>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Spain has the lowest average salary levels.</a:t>
            </a:r>
          </a:p>
          <a:p>
            <a:pPr marL="457200" indent="-342900" fontAlgn="base">
              <a:spcBef>
                <a:spcPct val="0"/>
              </a:spcBef>
              <a:spcAft>
                <a:spcPts val="24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Female customers have slightly higher average salaries than males</a:t>
            </a:r>
          </a:p>
          <a:p>
            <a:pPr marL="457200" indent="-342900" fontAlgn="base">
              <a:spcBef>
                <a:spcPct val="0"/>
              </a:spcBef>
              <a:spcAft>
                <a:spcPts val="2400"/>
              </a:spcAft>
              <a:buFont typeface="Wingdings" panose="05000000000000000000" pitchFamily="2" charset="2"/>
              <a:buChar char="q"/>
            </a:pPr>
            <a:endParaRPr lang="en-US" sz="2000" dirty="0">
              <a:latin typeface="Lato" panose="020F0502020204030203" pitchFamily="34" charset="0"/>
              <a:ea typeface="Lato" panose="020F0502020204030203" pitchFamily="34" charset="0"/>
              <a:cs typeface="Lato" panose="020F0502020204030203" pitchFamily="34" charset="0"/>
            </a:endParaRPr>
          </a:p>
        </p:txBody>
      </p:sp>
      <p:sp>
        <p:nvSpPr>
          <p:cNvPr id="9" name="Google Shape;185;p8">
            <a:extLst>
              <a:ext uri="{FF2B5EF4-FFF2-40B4-BE49-F238E27FC236}">
                <a16:creationId xmlns:a16="http://schemas.microsoft.com/office/drawing/2014/main" id="{1E1580F7-F907-5C76-B851-6E1534B00299}"/>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DB0CADC9-FA06-2A42-7843-5F0AF0733F41}"/>
              </a:ext>
            </a:extLst>
          </p:cNvPr>
          <p:cNvPicPr>
            <a:picLocks noChangeAspect="1"/>
          </p:cNvPicPr>
          <p:nvPr/>
        </p:nvPicPr>
        <p:blipFill>
          <a:blip r:embed="rId3"/>
          <a:stretch>
            <a:fillRect/>
          </a:stretch>
        </p:blipFill>
        <p:spPr>
          <a:xfrm>
            <a:off x="1950395" y="766117"/>
            <a:ext cx="8852172" cy="3182296"/>
          </a:xfrm>
          <a:prstGeom prst="rect">
            <a:avLst/>
          </a:prstGeom>
        </p:spPr>
      </p:pic>
      <p:sp>
        <p:nvSpPr>
          <p:cNvPr id="6" name="Rectangle 5">
            <a:extLst>
              <a:ext uri="{FF2B5EF4-FFF2-40B4-BE49-F238E27FC236}">
                <a16:creationId xmlns:a16="http://schemas.microsoft.com/office/drawing/2014/main" id="{7C1940EC-E706-C17D-000C-14C016692E4A}"/>
              </a:ext>
            </a:extLst>
          </p:cNvPr>
          <p:cNvSpPr/>
          <p:nvPr/>
        </p:nvSpPr>
        <p:spPr>
          <a:xfrm>
            <a:off x="1950395" y="766116"/>
            <a:ext cx="8852172" cy="3182296"/>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6983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4B31C-0E78-9FAE-4D88-4DE21F0BC05C}"/>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706625C0-8BDE-3502-277B-465D4C41E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134CE6C-3920-C2A9-144B-D930E158A4A2}"/>
              </a:ext>
            </a:extLst>
          </p:cNvPr>
          <p:cNvSpPr txBox="1"/>
          <p:nvPr/>
        </p:nvSpPr>
        <p:spPr>
          <a:xfrm>
            <a:off x="6741499" y="315229"/>
            <a:ext cx="4484450"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Analysis of Data</a:t>
            </a:r>
          </a:p>
        </p:txBody>
      </p:sp>
      <p:sp>
        <p:nvSpPr>
          <p:cNvPr id="8" name="TextBox 7">
            <a:extLst>
              <a:ext uri="{FF2B5EF4-FFF2-40B4-BE49-F238E27FC236}">
                <a16:creationId xmlns:a16="http://schemas.microsoft.com/office/drawing/2014/main" id="{F63D78DF-38DD-C166-76C5-51C45FC499DE}"/>
              </a:ext>
            </a:extLst>
          </p:cNvPr>
          <p:cNvSpPr txBox="1"/>
          <p:nvPr/>
        </p:nvSpPr>
        <p:spPr>
          <a:xfrm>
            <a:off x="439367" y="1364754"/>
            <a:ext cx="5817135" cy="3724096"/>
          </a:xfrm>
          <a:prstGeom prst="rect">
            <a:avLst/>
          </a:prstGeom>
          <a:noFill/>
        </p:spPr>
        <p:txBody>
          <a:bodyPr wrap="square">
            <a:spAutoFit/>
          </a:bodyPr>
          <a:lstStyle/>
          <a:p>
            <a:pPr>
              <a:lnSpc>
                <a:spcPct val="150000"/>
              </a:lnSpc>
            </a:pPr>
            <a:r>
              <a:rPr lang="en-US" sz="2400" b="1" dirty="0">
                <a:latin typeface="Lato" panose="020F0502020204030203" pitchFamily="34" charset="0"/>
                <a:ea typeface="Lato" panose="020F0502020204030203" pitchFamily="34" charset="0"/>
                <a:cs typeface="Lato" panose="020F0502020204030203" pitchFamily="34" charset="0"/>
              </a:rPr>
              <a:t>Insights</a:t>
            </a:r>
            <a:r>
              <a:rPr lang="en-US" sz="2400" b="1" i="0" u="none" strike="noStrike" dirty="0">
                <a:effectLst/>
                <a:latin typeface="Britannic Bold" panose="020B0903060703020204" pitchFamily="34" charset="0"/>
              </a:rPr>
              <a:t>:</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France</a:t>
            </a:r>
            <a:r>
              <a:rPr lang="en-US" sz="2000" dirty="0">
                <a:latin typeface="Lato" panose="020F0502020204030203" pitchFamily="34" charset="0"/>
                <a:ea typeface="Lato" panose="020F0502020204030203" pitchFamily="34" charset="0"/>
                <a:cs typeface="Lato" panose="020F0502020204030203" pitchFamily="34" charset="0"/>
              </a:rPr>
              <a:t> has the highest total balance (311.3M).</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Germany</a:t>
            </a:r>
            <a:r>
              <a:rPr lang="en-US" sz="2000" dirty="0">
                <a:latin typeface="Lato" panose="020F0502020204030203" pitchFamily="34" charset="0"/>
                <a:ea typeface="Lato" panose="020F0502020204030203" pitchFamily="34" charset="0"/>
                <a:cs typeface="Lato" panose="020F0502020204030203" pitchFamily="34" charset="0"/>
              </a:rPr>
              <a:t> is slightly lower but close to France (300.4M).</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Spain </a:t>
            </a:r>
            <a:r>
              <a:rPr lang="en-US" sz="2000" dirty="0">
                <a:latin typeface="Lato" panose="020F0502020204030203" pitchFamily="34" charset="0"/>
                <a:ea typeface="Lato" panose="020F0502020204030203" pitchFamily="34" charset="0"/>
                <a:cs typeface="Lato" panose="020F0502020204030203" pitchFamily="34" charset="0"/>
              </a:rPr>
              <a:t>has significantly lower total balance (153.1M)</a:t>
            </a:r>
          </a:p>
          <a:p>
            <a:pPr marL="457200" indent="-342900" fontAlgn="base">
              <a:spcBef>
                <a:spcPct val="0"/>
              </a:spcBef>
              <a:spcAft>
                <a:spcPts val="24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France </a:t>
            </a:r>
            <a:r>
              <a:rPr lang="en-US" sz="2000" dirty="0">
                <a:latin typeface="Lato" panose="020F0502020204030203" pitchFamily="34" charset="0"/>
                <a:ea typeface="Lato" panose="020F0502020204030203" pitchFamily="34" charset="0"/>
                <a:cs typeface="Lato" panose="020F0502020204030203" pitchFamily="34" charset="0"/>
              </a:rPr>
              <a:t>and</a:t>
            </a:r>
            <a:r>
              <a:rPr lang="en-US" sz="2000" b="1" dirty="0">
                <a:latin typeface="Lato" panose="020F0502020204030203" pitchFamily="34" charset="0"/>
                <a:ea typeface="Lato" panose="020F0502020204030203" pitchFamily="34" charset="0"/>
                <a:cs typeface="Lato" panose="020F0502020204030203" pitchFamily="34" charset="0"/>
              </a:rPr>
              <a:t> Germany </a:t>
            </a:r>
            <a:r>
              <a:rPr lang="en-US" sz="2000" dirty="0">
                <a:latin typeface="Lato" panose="020F0502020204030203" pitchFamily="34" charset="0"/>
                <a:ea typeface="Lato" panose="020F0502020204030203" pitchFamily="34" charset="0"/>
                <a:cs typeface="Lato" panose="020F0502020204030203" pitchFamily="34" charset="0"/>
              </a:rPr>
              <a:t>together hold the majority of the bank’s total funds.</a:t>
            </a:r>
          </a:p>
        </p:txBody>
      </p:sp>
      <p:sp>
        <p:nvSpPr>
          <p:cNvPr id="9" name="Google Shape;185;p8">
            <a:extLst>
              <a:ext uri="{FF2B5EF4-FFF2-40B4-BE49-F238E27FC236}">
                <a16:creationId xmlns:a16="http://schemas.microsoft.com/office/drawing/2014/main" id="{6E09F461-DB56-BECE-F53B-A532E8A57442}"/>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B1B93364-867B-FCC9-4706-20F08547FC0D}"/>
              </a:ext>
            </a:extLst>
          </p:cNvPr>
          <p:cNvPicPr>
            <a:picLocks noChangeAspect="1"/>
          </p:cNvPicPr>
          <p:nvPr/>
        </p:nvPicPr>
        <p:blipFill>
          <a:blip r:embed="rId3"/>
          <a:srcRect l="5585" t="26383" r="56516" b="21062"/>
          <a:stretch>
            <a:fillRect/>
          </a:stretch>
        </p:blipFill>
        <p:spPr>
          <a:xfrm>
            <a:off x="6498077" y="963039"/>
            <a:ext cx="4620638" cy="3604198"/>
          </a:xfrm>
          <a:prstGeom prst="rect">
            <a:avLst/>
          </a:prstGeom>
        </p:spPr>
      </p:pic>
    </p:spTree>
    <p:extLst>
      <p:ext uri="{BB962C8B-B14F-4D97-AF65-F5344CB8AC3E}">
        <p14:creationId xmlns:p14="http://schemas.microsoft.com/office/powerpoint/2010/main" val="3405805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8A0B9-A3DB-4533-55A5-08BC83C4E2BC}"/>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E0BD83A-989D-787A-563A-47213EAD5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C5CE256-3A9E-6C6A-D351-157F9193EF4A}"/>
              </a:ext>
            </a:extLst>
          </p:cNvPr>
          <p:cNvSpPr txBox="1"/>
          <p:nvPr/>
        </p:nvSpPr>
        <p:spPr>
          <a:xfrm>
            <a:off x="2598903" y="242897"/>
            <a:ext cx="5817135"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Dashboard and Visualization</a:t>
            </a:r>
          </a:p>
        </p:txBody>
      </p:sp>
      <p:sp>
        <p:nvSpPr>
          <p:cNvPr id="9" name="Google Shape;185;p8">
            <a:extLst>
              <a:ext uri="{FF2B5EF4-FFF2-40B4-BE49-F238E27FC236}">
                <a16:creationId xmlns:a16="http://schemas.microsoft.com/office/drawing/2014/main" id="{1F027294-75A6-3DA4-EC50-996D9CD734C2}"/>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5" name="Picture 4">
            <a:extLst>
              <a:ext uri="{FF2B5EF4-FFF2-40B4-BE49-F238E27FC236}">
                <a16:creationId xmlns:a16="http://schemas.microsoft.com/office/drawing/2014/main" id="{A19BC56B-9063-0F02-B7F8-7DE89A54532A}"/>
              </a:ext>
            </a:extLst>
          </p:cNvPr>
          <p:cNvPicPr>
            <a:picLocks noChangeAspect="1"/>
          </p:cNvPicPr>
          <p:nvPr/>
        </p:nvPicPr>
        <p:blipFill>
          <a:blip r:embed="rId3"/>
          <a:srcRect l="9335" t="19149" r="23005" b="12827"/>
          <a:stretch>
            <a:fillRect/>
          </a:stretch>
        </p:blipFill>
        <p:spPr>
          <a:xfrm>
            <a:off x="807396" y="766117"/>
            <a:ext cx="10359957" cy="5000017"/>
          </a:xfrm>
          <a:prstGeom prst="rect">
            <a:avLst/>
          </a:prstGeom>
        </p:spPr>
      </p:pic>
    </p:spTree>
    <p:extLst>
      <p:ext uri="{BB962C8B-B14F-4D97-AF65-F5344CB8AC3E}">
        <p14:creationId xmlns:p14="http://schemas.microsoft.com/office/powerpoint/2010/main" val="3692804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71F03-47C8-A85A-5583-EA52F10EAD90}"/>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15E07FE-6DA9-804E-61FF-6F9FA4A6D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057284-E12E-9D93-DD66-FFC8B53C9C47}"/>
              </a:ext>
            </a:extLst>
          </p:cNvPr>
          <p:cNvSpPr txBox="1"/>
          <p:nvPr/>
        </p:nvSpPr>
        <p:spPr>
          <a:xfrm>
            <a:off x="2598903" y="242897"/>
            <a:ext cx="5817135"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Dashboard and Visualization</a:t>
            </a:r>
          </a:p>
        </p:txBody>
      </p:sp>
      <p:sp>
        <p:nvSpPr>
          <p:cNvPr id="9" name="Google Shape;185;p8">
            <a:extLst>
              <a:ext uri="{FF2B5EF4-FFF2-40B4-BE49-F238E27FC236}">
                <a16:creationId xmlns:a16="http://schemas.microsoft.com/office/drawing/2014/main" id="{C1E27152-B47D-2D8A-9D33-E86D95A4CA4A}"/>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3" name="Picture 2">
            <a:extLst>
              <a:ext uri="{FF2B5EF4-FFF2-40B4-BE49-F238E27FC236}">
                <a16:creationId xmlns:a16="http://schemas.microsoft.com/office/drawing/2014/main" id="{DBE31BD5-8BB4-728A-B0B1-C38849059FB0}"/>
              </a:ext>
            </a:extLst>
          </p:cNvPr>
          <p:cNvPicPr>
            <a:picLocks noChangeAspect="1"/>
          </p:cNvPicPr>
          <p:nvPr/>
        </p:nvPicPr>
        <p:blipFill>
          <a:blip r:embed="rId3"/>
          <a:srcRect l="14202" t="19149" r="18378" b="12888"/>
          <a:stretch>
            <a:fillRect/>
          </a:stretch>
        </p:blipFill>
        <p:spPr>
          <a:xfrm>
            <a:off x="1040860" y="766117"/>
            <a:ext cx="9766571" cy="5089934"/>
          </a:xfrm>
          <a:prstGeom prst="rect">
            <a:avLst/>
          </a:prstGeom>
        </p:spPr>
      </p:pic>
    </p:spTree>
    <p:extLst>
      <p:ext uri="{BB962C8B-B14F-4D97-AF65-F5344CB8AC3E}">
        <p14:creationId xmlns:p14="http://schemas.microsoft.com/office/powerpoint/2010/main" val="998045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B082-BD0D-6B33-E8C7-D544404E9C9A}"/>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0B844413-1E39-D0EF-12CD-4FFF357CA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06BA8E4-2E20-2FEA-1173-7A867CFEF2E1}"/>
              </a:ext>
            </a:extLst>
          </p:cNvPr>
          <p:cNvSpPr txBox="1"/>
          <p:nvPr/>
        </p:nvSpPr>
        <p:spPr>
          <a:xfrm>
            <a:off x="2598903" y="242897"/>
            <a:ext cx="5817135" cy="523220"/>
          </a:xfrm>
          <a:prstGeom prst="rect">
            <a:avLst/>
          </a:prstGeom>
          <a:noFill/>
        </p:spPr>
        <p:txBody>
          <a:bodyPr wrap="square">
            <a:spAutoFit/>
          </a:bodyPr>
          <a:lstStyle/>
          <a:p>
            <a:pPr algn="ctr" rtl="0">
              <a:buNone/>
            </a:pPr>
            <a:r>
              <a:rPr lang="en-US" sz="2800" b="0" i="0" u="none" strike="noStrike" dirty="0">
                <a:effectLst/>
                <a:latin typeface="Britannic Bold" panose="020B0903060703020204" pitchFamily="34" charset="0"/>
              </a:rPr>
              <a:t>Dashboard and Visualization</a:t>
            </a:r>
          </a:p>
        </p:txBody>
      </p:sp>
      <p:sp>
        <p:nvSpPr>
          <p:cNvPr id="9" name="Google Shape;185;p8">
            <a:extLst>
              <a:ext uri="{FF2B5EF4-FFF2-40B4-BE49-F238E27FC236}">
                <a16:creationId xmlns:a16="http://schemas.microsoft.com/office/drawing/2014/main" id="{7C105E69-064D-C64F-1DCE-9C35FEA2C4BE}"/>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pic>
        <p:nvPicPr>
          <p:cNvPr id="5" name="Picture 4">
            <a:extLst>
              <a:ext uri="{FF2B5EF4-FFF2-40B4-BE49-F238E27FC236}">
                <a16:creationId xmlns:a16="http://schemas.microsoft.com/office/drawing/2014/main" id="{118E2843-2E8B-5A90-05CA-4B51C5266B8E}"/>
              </a:ext>
            </a:extLst>
          </p:cNvPr>
          <p:cNvPicPr>
            <a:picLocks noChangeAspect="1"/>
          </p:cNvPicPr>
          <p:nvPr/>
        </p:nvPicPr>
        <p:blipFill>
          <a:blip r:embed="rId3"/>
          <a:srcRect l="12766" t="19008" r="16862" b="11367"/>
          <a:stretch>
            <a:fillRect/>
          </a:stretch>
        </p:blipFill>
        <p:spPr>
          <a:xfrm>
            <a:off x="914400" y="766117"/>
            <a:ext cx="9776297" cy="5119117"/>
          </a:xfrm>
          <a:prstGeom prst="rect">
            <a:avLst/>
          </a:prstGeom>
        </p:spPr>
      </p:pic>
    </p:spTree>
    <p:extLst>
      <p:ext uri="{BB962C8B-B14F-4D97-AF65-F5344CB8AC3E}">
        <p14:creationId xmlns:p14="http://schemas.microsoft.com/office/powerpoint/2010/main" val="3538231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872D2-BA35-4E49-24B2-FD9C83445A79}"/>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D6AD880F-3243-9B36-8D43-36B006E7F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85;p8">
            <a:extLst>
              <a:ext uri="{FF2B5EF4-FFF2-40B4-BE49-F238E27FC236}">
                <a16:creationId xmlns:a16="http://schemas.microsoft.com/office/drawing/2014/main" id="{03972499-DAEE-B871-1E6F-ECC743624299}"/>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sp>
        <p:nvSpPr>
          <p:cNvPr id="2" name="TextBox 1">
            <a:extLst>
              <a:ext uri="{FF2B5EF4-FFF2-40B4-BE49-F238E27FC236}">
                <a16:creationId xmlns:a16="http://schemas.microsoft.com/office/drawing/2014/main" id="{285D9233-F2B7-D172-2097-0630B817C81E}"/>
              </a:ext>
            </a:extLst>
          </p:cNvPr>
          <p:cNvSpPr txBox="1"/>
          <p:nvPr/>
        </p:nvSpPr>
        <p:spPr>
          <a:xfrm>
            <a:off x="1296615" y="142959"/>
            <a:ext cx="9257896" cy="5571525"/>
          </a:xfrm>
          <a:prstGeom prst="rect">
            <a:avLst/>
          </a:prstGeom>
          <a:noFill/>
        </p:spPr>
        <p:txBody>
          <a:bodyPr wrap="square">
            <a:spAutoFit/>
          </a:bodyPr>
          <a:lstStyle/>
          <a:p>
            <a:pPr algn="ctr"/>
            <a:r>
              <a:rPr lang="en-US" sz="4000" dirty="0">
                <a:latin typeface="Britannic Bold" panose="020B0903060703020204" pitchFamily="34" charset="0"/>
                <a:ea typeface="Lato" panose="020F0502020204030203" pitchFamily="34" charset="0"/>
                <a:cs typeface="Lato" panose="020F0502020204030203" pitchFamily="34" charset="0"/>
              </a:rPr>
              <a:t>Conclusion</a:t>
            </a:r>
            <a:endParaRPr lang="en-US" sz="4000" b="1" dirty="0">
              <a:effectLst>
                <a:outerShdw blurRad="38100" dist="19050" dir="2700000" algn="tl">
                  <a:schemeClr val="dk1">
                    <a:alpha val="40000"/>
                  </a:schemeClr>
                </a:outerShdw>
              </a:effectLst>
              <a:latin typeface="Lato" panose="020F0502020204030203" pitchFamily="34" charset="0"/>
              <a:ea typeface="Lato" panose="020F0502020204030203" pitchFamily="34" charset="0"/>
              <a:cs typeface="Lato" panose="020F0502020204030203" pitchFamily="34" charset="0"/>
            </a:endParaRPr>
          </a:p>
          <a:p>
            <a:pPr marL="285750" lvl="0" indent="-285750">
              <a:lnSpc>
                <a:spcPct val="150000"/>
              </a:lnSpc>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The bank has </a:t>
            </a:r>
            <a:r>
              <a:rPr lang="en-US" sz="2000" b="1" dirty="0">
                <a:latin typeface="Lato" panose="020F0502020204030203" pitchFamily="34" charset="0"/>
                <a:ea typeface="Lato" panose="020F0502020204030203" pitchFamily="34" charset="0"/>
                <a:cs typeface="Lato" panose="020F0502020204030203" pitchFamily="34" charset="0"/>
              </a:rPr>
              <a:t>10K </a:t>
            </a:r>
            <a:r>
              <a:rPr lang="en-US" sz="2000" dirty="0">
                <a:latin typeface="Lato" panose="020F0502020204030203" pitchFamily="34" charset="0"/>
                <a:ea typeface="Lato" panose="020F0502020204030203" pitchFamily="34" charset="0"/>
                <a:cs typeface="Lato" panose="020F0502020204030203" pitchFamily="34" charset="0"/>
              </a:rPr>
              <a:t>total customers with a </a:t>
            </a:r>
            <a:r>
              <a:rPr lang="en-US" sz="2000" b="1" dirty="0">
                <a:latin typeface="Lato" panose="020F0502020204030203" pitchFamily="34" charset="0"/>
                <a:ea typeface="Lato" panose="020F0502020204030203" pitchFamily="34" charset="0"/>
                <a:cs typeface="Lato" panose="020F0502020204030203" pitchFamily="34" charset="0"/>
              </a:rPr>
              <a:t>20.37% churn rate</a:t>
            </a:r>
            <a:r>
              <a:rPr lang="en-US" sz="2000" dirty="0">
                <a:latin typeface="Lato" panose="020F0502020204030203" pitchFamily="34" charset="0"/>
                <a:ea typeface="Lato" panose="020F0502020204030203" pitchFamily="34" charset="0"/>
                <a:cs typeface="Lato" panose="020F0502020204030203" pitchFamily="34" charset="0"/>
              </a:rPr>
              <a:t>, indicating a noticeable retention challenge.</a:t>
            </a:r>
          </a:p>
          <a:p>
            <a:pPr marL="342900" indent="-342900">
              <a:lnSpc>
                <a:spcPct val="150000"/>
              </a:lnSpc>
              <a:spcAft>
                <a:spcPts val="6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Churn is increasing year by year</a:t>
            </a:r>
            <a:r>
              <a:rPr lang="en-US" sz="2000" dirty="0">
                <a:latin typeface="Lato" panose="020F0502020204030203" pitchFamily="34" charset="0"/>
                <a:ea typeface="Lato" panose="020F0502020204030203" pitchFamily="34" charset="0"/>
                <a:cs typeface="Lato" panose="020F0502020204030203" pitchFamily="34" charset="0"/>
              </a:rPr>
              <a:t>, requiring immediate customer retention strategies.</a:t>
            </a:r>
          </a:p>
          <a:p>
            <a:pPr marL="342900" indent="-342900">
              <a:lnSpc>
                <a:spcPct val="150000"/>
              </a:lnSpc>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The </a:t>
            </a:r>
            <a:r>
              <a:rPr lang="en-US" sz="2000" b="1" dirty="0">
                <a:latin typeface="Lato" panose="020F0502020204030203" pitchFamily="34" charset="0"/>
                <a:ea typeface="Lato" panose="020F0502020204030203" pitchFamily="34" charset="0"/>
                <a:cs typeface="Lato" panose="020F0502020204030203" pitchFamily="34" charset="0"/>
              </a:rPr>
              <a:t>30–50 age group </a:t>
            </a:r>
            <a:r>
              <a:rPr lang="en-US" sz="2000" dirty="0">
                <a:latin typeface="Lato" panose="020F0502020204030203" pitchFamily="34" charset="0"/>
                <a:ea typeface="Lato" panose="020F0502020204030203" pitchFamily="34" charset="0"/>
                <a:cs typeface="Lato" panose="020F0502020204030203" pitchFamily="34" charset="0"/>
              </a:rPr>
              <a:t>forms the majority of customers and also contributes most to churn.</a:t>
            </a:r>
          </a:p>
          <a:p>
            <a:pPr marL="342900" indent="-342900">
              <a:lnSpc>
                <a:spcPct val="150000"/>
              </a:lnSpc>
              <a:spcAft>
                <a:spcPts val="6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France and Germany contribute the highest total balance</a:t>
            </a:r>
            <a:r>
              <a:rPr lang="en-US" sz="2000" dirty="0">
                <a:latin typeface="Lato" panose="020F0502020204030203" pitchFamily="34" charset="0"/>
                <a:ea typeface="Lato" panose="020F0502020204030203" pitchFamily="34" charset="0"/>
                <a:cs typeface="Lato" panose="020F0502020204030203" pitchFamily="34" charset="0"/>
              </a:rPr>
              <a:t>, while Spain shows growth potential.</a:t>
            </a:r>
          </a:p>
          <a:p>
            <a:pPr marL="342900" indent="-342900">
              <a:lnSpc>
                <a:spcPct val="150000"/>
              </a:lnSpc>
              <a:spcAft>
                <a:spcPts val="6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Most customers use only </a:t>
            </a:r>
            <a:r>
              <a:rPr lang="en-US" sz="2000" b="1" dirty="0">
                <a:latin typeface="Lato" panose="020F0502020204030203" pitchFamily="34" charset="0"/>
                <a:ea typeface="Lato" panose="020F0502020204030203" pitchFamily="34" charset="0"/>
                <a:cs typeface="Lato" panose="020F0502020204030203" pitchFamily="34" charset="0"/>
              </a:rPr>
              <a:t>1 or 2 products</a:t>
            </a:r>
            <a:r>
              <a:rPr lang="en-US" sz="2000" dirty="0">
                <a:latin typeface="Lato" panose="020F0502020204030203" pitchFamily="34" charset="0"/>
                <a:ea typeface="Lato" panose="020F0502020204030203" pitchFamily="34" charset="0"/>
                <a:cs typeface="Lato" panose="020F0502020204030203" pitchFamily="34" charset="0"/>
              </a:rPr>
              <a:t>, showing strong cross-selling opportunities.</a:t>
            </a:r>
          </a:p>
        </p:txBody>
      </p:sp>
    </p:spTree>
    <p:extLst>
      <p:ext uri="{BB962C8B-B14F-4D97-AF65-F5344CB8AC3E}">
        <p14:creationId xmlns:p14="http://schemas.microsoft.com/office/powerpoint/2010/main" val="2342879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6BB6C-1C74-ACF3-8A83-AA700078FB63}"/>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BE4B51AD-FAD0-5EA1-56BB-2889C35EA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85;p8">
            <a:extLst>
              <a:ext uri="{FF2B5EF4-FFF2-40B4-BE49-F238E27FC236}">
                <a16:creationId xmlns:a16="http://schemas.microsoft.com/office/drawing/2014/main" id="{74FC5C91-613A-5A7B-B910-4A4C8E04AE80}"/>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sp>
        <p:nvSpPr>
          <p:cNvPr id="2" name="TextBox 1">
            <a:extLst>
              <a:ext uri="{FF2B5EF4-FFF2-40B4-BE49-F238E27FC236}">
                <a16:creationId xmlns:a16="http://schemas.microsoft.com/office/drawing/2014/main" id="{37D794D6-3643-0D37-E28D-678753EF6DA5}"/>
              </a:ext>
            </a:extLst>
          </p:cNvPr>
          <p:cNvSpPr txBox="1"/>
          <p:nvPr/>
        </p:nvSpPr>
        <p:spPr>
          <a:xfrm>
            <a:off x="1865886" y="697076"/>
            <a:ext cx="7896023" cy="3891578"/>
          </a:xfrm>
          <a:prstGeom prst="rect">
            <a:avLst/>
          </a:prstGeom>
          <a:noFill/>
        </p:spPr>
        <p:txBody>
          <a:bodyPr wrap="square">
            <a:spAutoFit/>
          </a:bodyPr>
          <a:lstStyle/>
          <a:p>
            <a:pPr algn="ctr">
              <a:spcAft>
                <a:spcPts val="1200"/>
              </a:spcAft>
            </a:pPr>
            <a:r>
              <a:rPr lang="en-US" sz="4000" b="1" dirty="0">
                <a:effectLst>
                  <a:outerShdw blurRad="38100" dist="19050" dir="2700000" algn="tl">
                    <a:schemeClr val="dk1">
                      <a:alpha val="40000"/>
                    </a:schemeClr>
                  </a:outerShdw>
                </a:effectLst>
                <a:latin typeface="Britannic Bold" panose="020B0903060703020204" pitchFamily="34" charset="0"/>
                <a:ea typeface="Lato" panose="020F0502020204030203" pitchFamily="34" charset="0"/>
                <a:cs typeface="Lato" panose="020F0502020204030203" pitchFamily="34" charset="0"/>
              </a:rPr>
              <a:t>Recommendation</a:t>
            </a:r>
            <a:endParaRPr lang="en-US" sz="4000" b="1" dirty="0">
              <a:effectLst>
                <a:outerShdw blurRad="38100" dist="19050" dir="2700000" algn="tl">
                  <a:schemeClr val="dk1">
                    <a:alpha val="40000"/>
                  </a:schemeClr>
                </a:outerShdw>
              </a:effectLst>
              <a:latin typeface="Lato" panose="020F0502020204030203" pitchFamily="34" charset="0"/>
              <a:ea typeface="Lato" panose="020F0502020204030203" pitchFamily="34" charset="0"/>
              <a:cs typeface="Lato" panose="020F0502020204030203" pitchFamily="34" charset="0"/>
            </a:endParaRPr>
          </a:p>
          <a:p>
            <a:pPr marL="342900" indent="-342900">
              <a:lnSpc>
                <a:spcPct val="150000"/>
              </a:lnSpc>
              <a:spcAft>
                <a:spcPts val="1200"/>
              </a:spcAft>
              <a:buFont typeface="Wingdings" panose="05000000000000000000" pitchFamily="2" charset="2"/>
              <a:buChar char="q"/>
            </a:pPr>
            <a:r>
              <a:rPr lang="en-US" sz="2000" b="1" dirty="0">
                <a:latin typeface="Lato" panose="020F0502020204030203" pitchFamily="34" charset="0"/>
                <a:ea typeface="Lato" panose="020F0502020204030203" pitchFamily="34" charset="0"/>
                <a:cs typeface="Lato" panose="020F0502020204030203" pitchFamily="34" charset="0"/>
              </a:rPr>
              <a:t>Focus more </a:t>
            </a:r>
            <a:r>
              <a:rPr lang="en-US" sz="2000" dirty="0">
                <a:latin typeface="Lato" panose="020F0502020204030203" pitchFamily="34" charset="0"/>
                <a:ea typeface="Lato" panose="020F0502020204030203" pitchFamily="34" charset="0"/>
                <a:cs typeface="Lato" panose="020F0502020204030203" pitchFamily="34" charset="0"/>
              </a:rPr>
              <a:t>on customers </a:t>
            </a:r>
            <a:r>
              <a:rPr lang="en-US" sz="2000" b="1" dirty="0">
                <a:latin typeface="Lato" panose="020F0502020204030203" pitchFamily="34" charset="0"/>
                <a:ea typeface="Lato" panose="020F0502020204030203" pitchFamily="34" charset="0"/>
                <a:cs typeface="Lato" panose="020F0502020204030203" pitchFamily="34" charset="0"/>
              </a:rPr>
              <a:t>aged 30–50</a:t>
            </a:r>
            <a:r>
              <a:rPr lang="en-US" sz="2000" dirty="0">
                <a:latin typeface="Lato" panose="020F0502020204030203" pitchFamily="34" charset="0"/>
                <a:ea typeface="Lato" panose="020F0502020204030203" pitchFamily="34" charset="0"/>
                <a:cs typeface="Lato" panose="020F0502020204030203" pitchFamily="34" charset="0"/>
              </a:rPr>
              <a:t>, because most customers who leave belong to this group.</a:t>
            </a:r>
            <a:endParaRPr lang="en-US" sz="2000" dirty="0"/>
          </a:p>
          <a:p>
            <a:pPr marL="342900" indent="-342900">
              <a:lnSpc>
                <a:spcPct val="150000"/>
              </a:lnSpc>
              <a:spcAft>
                <a:spcPts val="12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Encourage customers to use </a:t>
            </a:r>
            <a:r>
              <a:rPr lang="en-US" sz="2000" b="1" dirty="0">
                <a:latin typeface="Lato" panose="020F0502020204030203" pitchFamily="34" charset="0"/>
                <a:ea typeface="Lato" panose="020F0502020204030203" pitchFamily="34" charset="0"/>
                <a:cs typeface="Lato" panose="020F0502020204030203" pitchFamily="34" charset="0"/>
              </a:rPr>
              <a:t>more bank products </a:t>
            </a:r>
            <a:r>
              <a:rPr lang="en-US" sz="2000" dirty="0">
                <a:latin typeface="Lato" panose="020F0502020204030203" pitchFamily="34" charset="0"/>
                <a:ea typeface="Lato" panose="020F0502020204030203" pitchFamily="34" charset="0"/>
                <a:cs typeface="Lato" panose="020F0502020204030203" pitchFamily="34" charset="0"/>
              </a:rPr>
              <a:t>(like credit cards, loans, savings plans) instead of just one</a:t>
            </a:r>
          </a:p>
          <a:p>
            <a:pPr marL="342900" indent="-342900">
              <a:lnSpc>
                <a:spcPct val="150000"/>
              </a:lnSpc>
              <a:spcAft>
                <a:spcPts val="12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Introduce </a:t>
            </a:r>
            <a:r>
              <a:rPr lang="en-US" sz="2000" b="1" dirty="0">
                <a:latin typeface="Lato" panose="020F0502020204030203" pitchFamily="34" charset="0"/>
                <a:ea typeface="Lato" panose="020F0502020204030203" pitchFamily="34" charset="0"/>
                <a:cs typeface="Lato" panose="020F0502020204030203" pitchFamily="34" charset="0"/>
              </a:rPr>
              <a:t>loyalty programs, rewards, or special benefits </a:t>
            </a:r>
            <a:r>
              <a:rPr lang="en-US" sz="2000" dirty="0">
                <a:latin typeface="Lato" panose="020F0502020204030203" pitchFamily="34" charset="0"/>
                <a:ea typeface="Lato" panose="020F0502020204030203" pitchFamily="34" charset="0"/>
                <a:cs typeface="Lato" panose="020F0502020204030203" pitchFamily="34" charset="0"/>
              </a:rPr>
              <a:t>to reduce customer churn.</a:t>
            </a:r>
          </a:p>
        </p:txBody>
      </p:sp>
    </p:spTree>
    <p:extLst>
      <p:ext uri="{BB962C8B-B14F-4D97-AF65-F5344CB8AC3E}">
        <p14:creationId xmlns:p14="http://schemas.microsoft.com/office/powerpoint/2010/main" val="609920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C154-037F-CF85-34FF-648530D68C85}"/>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4BD1DAAE-8595-ECC6-A58F-C46F5DFD5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85;p8">
            <a:extLst>
              <a:ext uri="{FF2B5EF4-FFF2-40B4-BE49-F238E27FC236}">
                <a16:creationId xmlns:a16="http://schemas.microsoft.com/office/drawing/2014/main" id="{C1B42432-B072-EE49-F918-FCAB2F6EA770}"/>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sp>
        <p:nvSpPr>
          <p:cNvPr id="2" name="TextBox 1">
            <a:extLst>
              <a:ext uri="{FF2B5EF4-FFF2-40B4-BE49-F238E27FC236}">
                <a16:creationId xmlns:a16="http://schemas.microsoft.com/office/drawing/2014/main" id="{297FA11A-158C-9820-1571-B1DA07F5654D}"/>
              </a:ext>
            </a:extLst>
          </p:cNvPr>
          <p:cNvSpPr txBox="1"/>
          <p:nvPr/>
        </p:nvSpPr>
        <p:spPr>
          <a:xfrm>
            <a:off x="1865886" y="979178"/>
            <a:ext cx="7896023" cy="4955972"/>
          </a:xfrm>
          <a:prstGeom prst="rect">
            <a:avLst/>
          </a:prstGeom>
          <a:noFill/>
        </p:spPr>
        <p:txBody>
          <a:bodyPr wrap="square">
            <a:spAutoFit/>
          </a:bodyPr>
          <a:lstStyle/>
          <a:p>
            <a:pPr algn="ctr">
              <a:spcAft>
                <a:spcPts val="1200"/>
              </a:spcAft>
            </a:pPr>
            <a:r>
              <a:rPr lang="en-US" sz="4000" b="1" dirty="0">
                <a:effectLst>
                  <a:outerShdw blurRad="38100" dist="19050" dir="2700000" algn="tl">
                    <a:schemeClr val="dk1">
                      <a:alpha val="40000"/>
                    </a:schemeClr>
                  </a:outerShdw>
                </a:effectLst>
                <a:latin typeface="Britannic Bold" panose="020B0903060703020204" pitchFamily="34" charset="0"/>
                <a:ea typeface="Lato" panose="020F0502020204030203" pitchFamily="34" charset="0"/>
                <a:cs typeface="Lato" panose="020F0502020204030203" pitchFamily="34" charset="0"/>
              </a:rPr>
              <a:t>Recommendation</a:t>
            </a:r>
            <a:endParaRPr lang="en-US" sz="4000" b="1" dirty="0">
              <a:effectLst>
                <a:outerShdw blurRad="38100" dist="19050" dir="2700000" algn="tl">
                  <a:schemeClr val="dk1">
                    <a:alpha val="40000"/>
                  </a:schemeClr>
                </a:outerShdw>
              </a:effectLst>
              <a:latin typeface="Lato" panose="020F0502020204030203" pitchFamily="34" charset="0"/>
              <a:ea typeface="Lato" panose="020F0502020204030203" pitchFamily="34" charset="0"/>
              <a:cs typeface="Lato" panose="020F0502020204030203" pitchFamily="34" charset="0"/>
            </a:endParaRPr>
          </a:p>
          <a:p>
            <a:pPr marL="342900" indent="-342900">
              <a:lnSpc>
                <a:spcPct val="150000"/>
              </a:lnSpc>
              <a:spcAft>
                <a:spcPts val="12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Work on increasing deposits in </a:t>
            </a:r>
            <a:r>
              <a:rPr lang="en-US" sz="2000" b="1" dirty="0">
                <a:latin typeface="Lato" panose="020F0502020204030203" pitchFamily="34" charset="0"/>
                <a:ea typeface="Lato" panose="020F0502020204030203" pitchFamily="34" charset="0"/>
                <a:cs typeface="Lato" panose="020F0502020204030203" pitchFamily="34" charset="0"/>
              </a:rPr>
              <a:t>Spain,</a:t>
            </a:r>
            <a:r>
              <a:rPr lang="en-US" sz="2000" dirty="0">
                <a:latin typeface="Lato" panose="020F0502020204030203" pitchFamily="34" charset="0"/>
                <a:ea typeface="Lato" panose="020F0502020204030203" pitchFamily="34" charset="0"/>
                <a:cs typeface="Lato" panose="020F0502020204030203" pitchFamily="34" charset="0"/>
              </a:rPr>
              <a:t> as its total balance is lower compared to France and Germany </a:t>
            </a:r>
          </a:p>
          <a:p>
            <a:pPr marL="342900" indent="-342900">
              <a:lnSpc>
                <a:spcPct val="150000"/>
              </a:lnSpc>
              <a:spcAft>
                <a:spcPts val="12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Maintain strong relationships with customers in </a:t>
            </a:r>
            <a:r>
              <a:rPr lang="en-US" sz="2000" b="1" dirty="0">
                <a:latin typeface="Lato" panose="020F0502020204030203" pitchFamily="34" charset="0"/>
                <a:ea typeface="Lato" panose="020F0502020204030203" pitchFamily="34" charset="0"/>
                <a:cs typeface="Lato" panose="020F0502020204030203" pitchFamily="34" charset="0"/>
              </a:rPr>
              <a:t>France</a:t>
            </a:r>
            <a:r>
              <a:rPr lang="en-US" sz="2000" dirty="0">
                <a:latin typeface="Lato" panose="020F0502020204030203" pitchFamily="34" charset="0"/>
                <a:ea typeface="Lato" panose="020F0502020204030203" pitchFamily="34" charset="0"/>
                <a:cs typeface="Lato" panose="020F0502020204030203" pitchFamily="34" charset="0"/>
              </a:rPr>
              <a:t> and </a:t>
            </a:r>
            <a:r>
              <a:rPr lang="en-US" sz="2000" b="1" dirty="0">
                <a:latin typeface="Lato" panose="020F0502020204030203" pitchFamily="34" charset="0"/>
                <a:ea typeface="Lato" panose="020F0502020204030203" pitchFamily="34" charset="0"/>
                <a:cs typeface="Lato" panose="020F0502020204030203" pitchFamily="34" charset="0"/>
              </a:rPr>
              <a:t>Germany</a:t>
            </a:r>
            <a:r>
              <a:rPr lang="en-US" sz="2000" dirty="0">
                <a:latin typeface="Lato" panose="020F0502020204030203" pitchFamily="34" charset="0"/>
                <a:ea typeface="Lato" panose="020F0502020204030203" pitchFamily="34" charset="0"/>
                <a:cs typeface="Lato" panose="020F0502020204030203" pitchFamily="34" charset="0"/>
              </a:rPr>
              <a:t> to keep balances high and prevent churn.</a:t>
            </a:r>
          </a:p>
          <a:p>
            <a:pPr marL="342900" indent="-342900">
              <a:lnSpc>
                <a:spcPct val="150000"/>
              </a:lnSpc>
              <a:spcAft>
                <a:spcPts val="1200"/>
              </a:spcAft>
              <a:buFont typeface="Wingdings" panose="05000000000000000000" pitchFamily="2" charset="2"/>
              <a:buChar char="q"/>
            </a:pPr>
            <a:r>
              <a:rPr lang="en-US" sz="2000" dirty="0">
                <a:latin typeface="Lato" panose="020F0502020204030203" pitchFamily="34" charset="0"/>
                <a:ea typeface="Lato" panose="020F0502020204030203" pitchFamily="34" charset="0"/>
                <a:cs typeface="Lato" panose="020F0502020204030203" pitchFamily="34" charset="0"/>
              </a:rPr>
              <a:t>Improve </a:t>
            </a:r>
            <a:r>
              <a:rPr lang="en-US" sz="2000" b="1" dirty="0">
                <a:latin typeface="Lato" panose="020F0502020204030203" pitchFamily="34" charset="0"/>
                <a:ea typeface="Lato" panose="020F0502020204030203" pitchFamily="34" charset="0"/>
                <a:cs typeface="Lato" panose="020F0502020204030203" pitchFamily="34" charset="0"/>
              </a:rPr>
              <a:t>customer engagement </a:t>
            </a:r>
            <a:r>
              <a:rPr lang="en-US" sz="2000" dirty="0">
                <a:latin typeface="Lato" panose="020F0502020204030203" pitchFamily="34" charset="0"/>
                <a:ea typeface="Lato" panose="020F0502020204030203" pitchFamily="34" charset="0"/>
                <a:cs typeface="Lato" panose="020F0502020204030203" pitchFamily="34" charset="0"/>
              </a:rPr>
              <a:t>through regular communication, such as </a:t>
            </a:r>
            <a:r>
              <a:rPr lang="en-US" sz="2000" b="1" dirty="0">
                <a:latin typeface="Lato" panose="020F0502020204030203" pitchFamily="34" charset="0"/>
                <a:ea typeface="Lato" panose="020F0502020204030203" pitchFamily="34" charset="0"/>
                <a:cs typeface="Lato" panose="020F0502020204030203" pitchFamily="34" charset="0"/>
              </a:rPr>
              <a:t>personalized emails, offers, and follow-ups</a:t>
            </a:r>
            <a:r>
              <a:rPr lang="en-US" sz="2000" dirty="0">
                <a:latin typeface="Lato" panose="020F0502020204030203" pitchFamily="34" charset="0"/>
                <a:ea typeface="Lato" panose="020F0502020204030203" pitchFamily="34" charset="0"/>
                <a:cs typeface="Lato" panose="020F0502020204030203" pitchFamily="34" charset="0"/>
              </a:rPr>
              <a:t>, so customers feel valued and connected to the bank.</a:t>
            </a:r>
          </a:p>
          <a:p>
            <a:pPr marL="342900" indent="-342900">
              <a:lnSpc>
                <a:spcPct val="150000"/>
              </a:lnSpc>
              <a:spcAft>
                <a:spcPts val="1200"/>
              </a:spcAft>
              <a:buFont typeface="Wingdings" panose="05000000000000000000" pitchFamily="2" charset="2"/>
              <a:buChar char="q"/>
            </a:pPr>
            <a:endParaRPr lang="en-US"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952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A419-515C-CFA8-4DBB-FDC1C9656275}"/>
            </a:ext>
          </a:extLst>
        </p:cNvPr>
        <p:cNvGrpSpPr/>
        <p:nvPr/>
      </p:nvGrpSpPr>
      <p:grpSpPr>
        <a:xfrm>
          <a:off x="0" y="0"/>
          <a:ext cx="0" cy="0"/>
          <a:chOff x="0" y="0"/>
          <a:chExt cx="0" cy="0"/>
        </a:xfrm>
      </p:grpSpPr>
      <p:pic>
        <p:nvPicPr>
          <p:cNvPr id="4" name="Picture 10" descr="Customer Relationship Management Logo Icon Design Stock Vector -  Illustration of design, technology: 128469718">
            <a:extLst>
              <a:ext uri="{FF2B5EF4-FFF2-40B4-BE49-F238E27FC236}">
                <a16:creationId xmlns:a16="http://schemas.microsoft.com/office/drawing/2014/main" id="{F0FD812F-E6CB-B00C-EF08-FB75F01F0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99" y="6096000"/>
            <a:ext cx="761999" cy="76199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85;p8">
            <a:extLst>
              <a:ext uri="{FF2B5EF4-FFF2-40B4-BE49-F238E27FC236}">
                <a16:creationId xmlns:a16="http://schemas.microsoft.com/office/drawing/2014/main" id="{0C260465-980C-71F3-F422-A7DDEE6D390F}"/>
              </a:ext>
            </a:extLst>
          </p:cNvPr>
          <p:cNvSpPr/>
          <p:nvPr/>
        </p:nvSpPr>
        <p:spPr>
          <a:xfrm>
            <a:off x="0" y="5978287"/>
            <a:ext cx="12192000" cy="113596"/>
          </a:xfrm>
          <a:custGeom>
            <a:avLst/>
            <a:gdLst/>
            <a:ahLst/>
            <a:cxnLst/>
            <a:rect l="l" t="t" r="r" b="b"/>
            <a:pathLst>
              <a:path w="13356709" h="233742" extrusionOk="0">
                <a:moveTo>
                  <a:pt x="0" y="0"/>
                </a:moveTo>
                <a:lnTo>
                  <a:pt x="13356709" y="0"/>
                </a:lnTo>
                <a:lnTo>
                  <a:pt x="13356709" y="233742"/>
                </a:lnTo>
                <a:lnTo>
                  <a:pt x="0" y="233742"/>
                </a:lnTo>
                <a:lnTo>
                  <a:pt x="0" y="0"/>
                </a:lnTo>
                <a:close/>
              </a:path>
            </a:pathLst>
          </a:custGeom>
          <a:solidFill>
            <a:schemeClr val="accent1">
              <a:lumMod val="60000"/>
              <a:lumOff val="40000"/>
            </a:schemeClr>
          </a:solidFill>
          <a:ln>
            <a:noFill/>
          </a:ln>
        </p:spPr>
      </p:sp>
      <p:sp>
        <p:nvSpPr>
          <p:cNvPr id="3" name="TextBox 2">
            <a:extLst>
              <a:ext uri="{FF2B5EF4-FFF2-40B4-BE49-F238E27FC236}">
                <a16:creationId xmlns:a16="http://schemas.microsoft.com/office/drawing/2014/main" id="{67DF83A5-A257-F44A-1CF6-09192C59E38C}"/>
              </a:ext>
            </a:extLst>
          </p:cNvPr>
          <p:cNvSpPr txBox="1"/>
          <p:nvPr/>
        </p:nvSpPr>
        <p:spPr>
          <a:xfrm>
            <a:off x="535021" y="2598003"/>
            <a:ext cx="3920245" cy="830997"/>
          </a:xfrm>
          <a:prstGeom prst="rect">
            <a:avLst/>
          </a:prstGeom>
          <a:noFill/>
        </p:spPr>
        <p:txBody>
          <a:bodyPr wrap="square" rtlCol="0">
            <a:spAutoFit/>
          </a:bodyPr>
          <a:lstStyle/>
          <a:p>
            <a:pPr algn="ctr"/>
            <a:r>
              <a:rPr lang="en-GB" sz="4800" dirty="0">
                <a:latin typeface="Britannic Bold" panose="020B0903060703020204" pitchFamily="34" charset="0"/>
                <a:ea typeface="Lato" panose="020F0502020204030203" pitchFamily="34" charset="0"/>
                <a:cs typeface="Lato" panose="020F0502020204030203" pitchFamily="34" charset="0"/>
              </a:rPr>
              <a:t>Thank You !</a:t>
            </a:r>
            <a:endParaRPr lang="en-US" sz="4800" dirty="0"/>
          </a:p>
        </p:txBody>
      </p:sp>
      <p:pic>
        <p:nvPicPr>
          <p:cNvPr id="5" name="Picture 8" descr="Systematize modern banking sector with CRM software.">
            <a:extLst>
              <a:ext uri="{FF2B5EF4-FFF2-40B4-BE49-F238E27FC236}">
                <a16:creationId xmlns:a16="http://schemas.microsoft.com/office/drawing/2014/main" id="{1F2AF5CD-F1D3-6388-A2BA-13DFF05A3A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190" y="0"/>
            <a:ext cx="7376809" cy="5974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187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TotalTime>
  <Words>1063</Words>
  <Application>Microsoft Office PowerPoint</Application>
  <PresentationFormat>Widescreen</PresentationFormat>
  <Paragraphs>108</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Britannic Bold</vt:lpstr>
      <vt:lpstr>Lato</vt:lpstr>
      <vt:lpstr>Wingdings</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Rajat9891875491 kumar</dc:creator>
  <cp:lastModifiedBy>Rajat9891875491 kumar</cp:lastModifiedBy>
  <cp:revision>14</cp:revision>
  <dcterms:created xsi:type="dcterms:W3CDTF">2026-02-23T16:44:36Z</dcterms:created>
  <dcterms:modified xsi:type="dcterms:W3CDTF">2026-02-24T19:49:28Z</dcterms:modified>
</cp:coreProperties>
</file>